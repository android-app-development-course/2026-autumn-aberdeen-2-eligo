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 Today I will present Eligo, an aging-friendly activity and social platform. This project aims to connect older adults with peer-led offline activities through a mobile app designed from the ground up for senior users. I will walk you through the research background, our solution, system architecture, implementation progress and expected outcomes.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presentation is organized into five parts. I will start with the research background and the problems we identified, then introduce the Eligo platform and its six functional modules, followed by the technical architecture and technology choices. I will conclude with our implementation progress, expected outcomes, and future work.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 us start with the research background. The core question driving this project is simple: why do older adults need a dedicated social platform, when mainstream apps already offer chat and community features?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aging trend is unmistakable. China now has over 300 million people aged 60 and above. Yet approximately 70 percent report difficulty using mainstream smartphone apps independently. This creates a double gap: they want social connection and offline activities, but the digital tools designed for younger users exclude them. This is the problem Eligo addresses.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 identified three core pain points. First, loneliness: seniors have no peer-friendly way to find offline activities. Second, the digital divide: mainstream apps are too complex for them. Third, safety: without verification and emergency features, offline meetings are risky. Eligo addresses all three at once.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 me introduce our solution. Eligo is not just another social app; it is a platform designed from the ground up for older adults, with aging-first principles embedded in every feature.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Eligo helps seniors discover nearby peer activities, join with one tap, and message friends. It is built for seniors from the ground up, not reskinned from a young-user app. Four principles guide every screen: large type and high contrast, generous touch targets, three-step maximum tasks, and safety by default with the SOS feature.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Eligo consists of six modules. The Map and Community Square help users discover and join activities. Chat and Friends handle social connection. The Personal Center manages profile and history. The SOS module is the safety differentiator: one tap alerts trusted contacts with the user's current location during offline activities.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Here are two placeholder frames for actual app screenshots. The left frame will show the activity map or community square, demonstrating the discovery flow. The right frame will show the chat interface or the SOS emergency screen. These will be replaced with real screenshots once client-side development is complete.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this section I will walk through the system architecture, the technology stack we chose, and the key engineering decisions behind the implementation.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system follows a three-tier architecture. The presentation layer is the Android client built with Kotlin and Jetpack Compose using MVVM. The data layer sits between client and server, using the repository pattern with Retrofit for network and Room for local cache. The backend layer is a Spring Boot service secured with JWT, backed by MySQL and Redis. This separation lets us test and replace each layer independently.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 chose Jetpack Compose over XML views for its declarative model and easier large-text theming. Spring Boot over Node.js for its mature ecosystem. MySQL over MongoDB because our data is relational. Retrofit over raw OkHttp for type-safe API calls. Each choice prioritizes maintainability and the specific needs of an aging-friendly UI.</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this section I will cover where we are in the project timeline, what we plan to deliver, and what makes this project distinctive.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project follows five phases. Requirements analysis, prototype design, and backend development are complete. We are currently in Phase 4, jointly debugging the Android client against the Spring Boot backend. Phase 5, system testing and thesis defense, is scheduled for the coming months.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project delivers three artifacts: the Android client, the Spring Boot backend, and full documentation. Our three innovations are: aging-first UI designed from scratch rather than adapted, SOS safety integrated directly into offline activities, and a three-step interaction pattern that minimizes the learning curve for seniors.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That concludes my presentation. Thank you for your attention. I would be happy to answer any questions about the research background, system design, technology choices, or implementation progress.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76200"/>
          </a:xfrm>
          <a:prstGeom prst="roundRect">
            <a:avLst>
              <a:gd name="adj" fmla="val 0"/>
            </a:avLst>
          </a:prstGeom>
          <a:solidFill>
            <a:srgbClr val="1E3C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016000" y="711200"/>
            <a:ext cx="635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385BD"/>
                </a:solidFill>
                <a:latin typeface="Inter"/>
                <a:ea typeface="Inter"/>
                <a:cs typeface="Inter"/>
                <a:sym typeface="Inter"/>
              </a:rPr>
              <a:t>GRADUATION PROJECT PROPOSAL · COMPUTER SCIENCE &amp; ENGINEERING</a:t>
            </a:r>
            <a:endParaRPr lang="en-US" sz="1100"/>
          </a:p>
        </p:txBody>
      </p:sp>
      <p:sp>
        <p:nvSpPr>
          <p:cNvPr id="4" name="AutoShape 4"/>
          <p:cNvSpPr txBox="1"/>
          <p:nvPr/>
        </p:nvSpPr>
        <p:spPr>
          <a:xfrm>
            <a:off x="1016000" y="1651000"/>
            <a:ext cx="6350000" cy="1143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6800" b="1" i="0" u="none" strike="noStrike">
                <a:solidFill>
                  <a:srgbClr val="18263A"/>
                </a:solidFill>
                <a:latin typeface="Inter"/>
                <a:ea typeface="Inter"/>
                <a:cs typeface="Inter"/>
                <a:sym typeface="Inter"/>
              </a:rPr>
              <a:t>Eligo</a:t>
            </a:r>
            <a:endParaRPr lang="en-US" sz="1100"/>
          </a:p>
        </p:txBody>
      </p:sp>
      <p:sp>
        <p:nvSpPr>
          <p:cNvPr id="5" name="AutoShape 5"/>
          <p:cNvSpPr txBox="1"/>
          <p:nvPr/>
        </p:nvSpPr>
        <p:spPr>
          <a:xfrm>
            <a:off x="1016000" y="2984500"/>
            <a:ext cx="6604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5385BD"/>
                </a:solidFill>
                <a:latin typeface="Inter"/>
                <a:ea typeface="Inter"/>
                <a:cs typeface="Inter"/>
                <a:sym typeface="Inter"/>
              </a:rPr>
              <a:t>An Aging-Friendly Activity &amp; Social Platform</a:t>
            </a:r>
            <a:endParaRPr lang="en-US" sz="1100"/>
          </a:p>
        </p:txBody>
      </p:sp>
      <p:sp>
        <p:nvSpPr>
          <p:cNvPr id="6" name="AutoShape 6"/>
          <p:cNvSpPr/>
          <p:nvPr/>
        </p:nvSpPr>
        <p:spPr>
          <a:xfrm>
            <a:off x="1016000" y="3784600"/>
            <a:ext cx="711200" cy="38100"/>
          </a:xfrm>
          <a:prstGeom prst="roundRect">
            <a:avLst>
              <a:gd name="adj" fmla="val 0"/>
            </a:avLst>
          </a:prstGeom>
          <a:solidFill>
            <a:srgbClr val="519D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txBox="1"/>
          <p:nvPr/>
        </p:nvSpPr>
        <p:spPr>
          <a:xfrm>
            <a:off x="1016000" y="4064000"/>
            <a:ext cx="6096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69788C"/>
                </a:solidFill>
                <a:latin typeface="Inter"/>
                <a:ea typeface="Inter"/>
                <a:cs typeface="Inter"/>
                <a:sym typeface="Inter"/>
              </a:rPr>
              <a:t>Design and implementation of a mobile social platform that connects older adults with peer-led offline activities, built with Kotlin, Jetpack Compose and Spring Boot.</a:t>
            </a:r>
            <a:endParaRPr lang="en-US" sz="1100"/>
          </a:p>
        </p:txBody>
      </p:sp>
      <p:sp>
        <p:nvSpPr>
          <p:cNvPr id="8" name="AutoShape 8"/>
          <p:cNvSpPr txBox="1"/>
          <p:nvPr/>
        </p:nvSpPr>
        <p:spPr>
          <a:xfrm>
            <a:off x="1016000" y="5715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200" b="0" i="0" u="none" strike="noStrike">
                <a:solidFill>
                  <a:srgbClr val="69788C"/>
                </a:solidFill>
                <a:latin typeface="Inter"/>
                <a:ea typeface="Inter"/>
                <a:cs typeface="Inter"/>
                <a:sym typeface="Inter"/>
              </a:rPr>
              <a:t> </a:t>
            </a:r>
            <a:r>
              <a:rPr lang="en-US" sz="1200" b="1" i="0" u="none" strike="noStrike">
                <a:solidFill>
                  <a:srgbClr val="18263A"/>
                </a:solidFill>
                <a:highlight>
                  <a:srgbClr val="FFFFFF">
                    <a:alpha val="0"/>
                  </a:srgbClr>
                </a:highlight>
                <a:latin typeface="Inter"/>
                <a:ea typeface="Inter"/>
                <a:cs typeface="Inter"/>
                <a:sym typeface="Inter"/>
              </a:rPr>
              <a:t>曾卓彦 朱俊宇 刘卓伦 邓钦琛</a:t>
            </a:r>
            <a:endParaRPr lang="en-US" sz="1100"/>
          </a:p>
          <a:p>
            <a:pPr algn="l">
              <a:lnSpc>
                <a:spcPct val="142000"/>
              </a:lnSpc>
            </a:pPr>
          </a:p>
        </p:txBody>
      </p:sp>
      <p:sp>
        <p:nvSpPr>
          <p:cNvPr id="9" name="AutoShape 9"/>
          <p:cNvSpPr txBox="1"/>
          <p:nvPr/>
        </p:nvSpPr>
        <p:spPr>
          <a:xfrm>
            <a:off x="5842000" y="5715000"/>
            <a:ext cx="3810000" cy="762000"/>
          </a:xfrm>
          <a:prstGeom prst="rect">
            <a:avLst/>
          </a:prstGeom>
          <a:noFill/>
          <a:ln w="12700" cap="flat" cmpd="sng">
            <a:noFill/>
            <a:prstDash val="solid"/>
            <a:round/>
          </a:ln>
        </p:spPr>
        <p:txBody>
          <a:bodyPr vert="horz" wrap="square" lIns="0" tIns="0" rIns="0" bIns="0" rtlCol="0" anchor="ctr" anchorCtr="0"/>
          <a:lstStyle/>
          <a:p>
            <a:pPr marL="0" indent="0" algn="r">
              <a:lnSpc>
                <a:spcPct val="142000"/>
              </a:lnSpc>
              <a:defRPr/>
            </a:pPr>
            <a:endParaRPr lang="en-US" sz="1100"/>
          </a:p>
          <a:p>
            <a:pPr marL="0" indent="0" algn="r">
              <a:lnSpc>
                <a:spcPct val="142000"/>
              </a:lnSpc>
            </a:pPr>
            <a:r>
              <a:rPr lang="en-US" sz="1200" b="0" i="0" u="none" strike="noStrike">
                <a:solidFill>
                  <a:srgbClr val="69788C"/>
                </a:solidFill>
                <a:latin typeface="Inter"/>
                <a:ea typeface="Inter"/>
                <a:cs typeface="Inter"/>
                <a:sym typeface="Inter"/>
              </a:rPr>
              <a:t>October 2026</a:t>
            </a:r>
            <a:endParaRPr lang="en-US" sz="1200" b="0" i="0" u="none" strike="noStrike">
              <a:solidFill>
                <a:srgbClr val="69788C"/>
              </a:solidFill>
              <a:latin typeface="Inter"/>
              <a:ea typeface="Inter"/>
              <a:cs typeface="Inter"/>
              <a:sym typeface="Inter"/>
            </a:endParaRPr>
          </a:p>
        </p:txBody>
      </p:sp>
      <p:pic>
        <p:nvPicPr>
          <p:cNvPr id="10" name="Picture 10"/>
          <p:cNvPicPr>
            <a:picLocks noChangeAspect="1"/>
          </p:cNvPicPr>
          <p:nvPr/>
        </p:nvPicPr>
        <p:blipFill>
          <a:blip r:embed="rId1"/>
          <a:srcRect/>
          <a:stretch>
            <a:fillRect/>
          </a:stretch>
        </p:blipFill>
        <p:spPr>
          <a:xfrm>
            <a:off x="7874000" y="1778000"/>
            <a:ext cx="3302000" cy="33020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609600"/>
            <a:ext cx="1016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CONTENTS</a:t>
            </a:r>
            <a:endParaRPr lang="en-US" sz="1100"/>
          </a:p>
        </p:txBody>
      </p:sp>
      <p:sp>
        <p:nvSpPr>
          <p:cNvPr id="3" name="AutoShape 3"/>
          <p:cNvSpPr txBox="1"/>
          <p:nvPr/>
        </p:nvSpPr>
        <p:spPr>
          <a:xfrm>
            <a:off x="1016000" y="914400"/>
            <a:ext cx="76200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200" b="1" i="0" u="none" strike="noStrike">
                <a:solidFill>
                  <a:srgbClr val="18263A"/>
                </a:solidFill>
                <a:latin typeface="Inter"/>
                <a:ea typeface="Inter"/>
                <a:cs typeface="Inter"/>
                <a:sym typeface="Inter"/>
              </a:rPr>
              <a:t>Agenda</a:t>
            </a:r>
            <a:endParaRPr lang="en-US" sz="1100"/>
          </a:p>
        </p:txBody>
      </p:sp>
      <p:cxnSp>
        <p:nvCxnSpPr>
          <p:cNvPr id="4" name="Connector 4"/>
          <p:cNvCxnSpPr/>
          <p:nvPr/>
        </p:nvCxnSpPr>
        <p:spPr>
          <a:xfrm rot="-4297">
            <a:off x="1016004" y="1746250"/>
            <a:ext cx="10160000" cy="12700"/>
          </a:xfrm>
          <a:prstGeom prst="straightConnector1">
            <a:avLst/>
          </a:prstGeom>
          <a:solidFill>
            <a:srgbClr val="DEE0E3">
              <a:alpha val="100000"/>
            </a:srgbClr>
          </a:solidFill>
          <a:ln w="12700" cap="flat" cmpd="sng">
            <a:solidFill>
              <a:srgbClr val="C8D2DC">
                <a:alpha val="100000"/>
              </a:srgbClr>
            </a:solidFill>
            <a:prstDash val="solid"/>
            <a:round/>
            <a:headEnd type="none" w="med" len="med"/>
            <a:tailEnd type="none" w="med" len="med"/>
          </a:ln>
        </p:spPr>
      </p:cxnSp>
      <p:sp>
        <p:nvSpPr>
          <p:cNvPr id="5" name="AutoShape 5"/>
          <p:cNvSpPr txBox="1"/>
          <p:nvPr/>
        </p:nvSpPr>
        <p:spPr>
          <a:xfrm>
            <a:off x="1016000" y="1981200"/>
            <a:ext cx="762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5385BD"/>
                </a:solidFill>
                <a:latin typeface="Inter"/>
                <a:ea typeface="Inter"/>
                <a:cs typeface="Inter"/>
                <a:sym typeface="Inter"/>
              </a:rPr>
              <a:t>01</a:t>
            </a:r>
            <a:endParaRPr lang="en-US" sz="1100"/>
          </a:p>
        </p:txBody>
      </p:sp>
      <p:sp>
        <p:nvSpPr>
          <p:cNvPr id="6" name="AutoShape 6"/>
          <p:cNvSpPr txBox="1"/>
          <p:nvPr/>
        </p:nvSpPr>
        <p:spPr>
          <a:xfrm>
            <a:off x="2032000" y="1981200"/>
            <a:ext cx="6350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8263A"/>
                </a:solidFill>
                <a:latin typeface="Inter"/>
                <a:ea typeface="Inter"/>
                <a:cs typeface="Inter"/>
                <a:sym typeface="Inter"/>
              </a:rPr>
              <a:t>Research Background &amp; Problem</a:t>
            </a:r>
            <a:endParaRPr lang="en-US" sz="1100"/>
          </a:p>
        </p:txBody>
      </p:sp>
      <p:sp>
        <p:nvSpPr>
          <p:cNvPr id="7" name="AutoShape 7"/>
          <p:cNvSpPr txBox="1"/>
          <p:nvPr/>
        </p:nvSpPr>
        <p:spPr>
          <a:xfrm>
            <a:off x="2032000" y="2311400"/>
            <a:ext cx="8636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69788C"/>
                </a:solidFill>
                <a:latin typeface="Inter"/>
                <a:ea typeface="Inter"/>
                <a:cs typeface="Inter"/>
                <a:sym typeface="Inter"/>
              </a:rPr>
              <a:t>Aging population, digital divide, and the social isolation of older adults</a:t>
            </a:r>
            <a:endParaRPr lang="en-US" sz="1100"/>
          </a:p>
        </p:txBody>
      </p:sp>
      <p:cxnSp>
        <p:nvCxnSpPr>
          <p:cNvPr id="8" name="Connector 8"/>
          <p:cNvCxnSpPr/>
          <p:nvPr/>
        </p:nvCxnSpPr>
        <p:spPr>
          <a:xfrm rot="-4297">
            <a:off x="1016004" y="27368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9" name="AutoShape 9"/>
          <p:cNvSpPr txBox="1"/>
          <p:nvPr/>
        </p:nvSpPr>
        <p:spPr>
          <a:xfrm>
            <a:off x="1016000" y="2895600"/>
            <a:ext cx="762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5385BD"/>
                </a:solidFill>
                <a:latin typeface="Inter"/>
                <a:ea typeface="Inter"/>
                <a:cs typeface="Inter"/>
                <a:sym typeface="Inter"/>
              </a:rPr>
              <a:t>02</a:t>
            </a:r>
            <a:endParaRPr lang="en-US" sz="1100"/>
          </a:p>
        </p:txBody>
      </p:sp>
      <p:sp>
        <p:nvSpPr>
          <p:cNvPr id="10" name="AutoShape 10"/>
          <p:cNvSpPr txBox="1"/>
          <p:nvPr/>
        </p:nvSpPr>
        <p:spPr>
          <a:xfrm>
            <a:off x="2032000" y="2895600"/>
            <a:ext cx="6350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8263A"/>
                </a:solidFill>
                <a:latin typeface="Inter"/>
                <a:ea typeface="Inter"/>
                <a:cs typeface="Inter"/>
                <a:sym typeface="Inter"/>
              </a:rPr>
              <a:t>Proposed Solution: Eligo Platform</a:t>
            </a:r>
            <a:endParaRPr lang="en-US" sz="1100"/>
          </a:p>
        </p:txBody>
      </p:sp>
      <p:sp>
        <p:nvSpPr>
          <p:cNvPr id="11" name="AutoShape 11"/>
          <p:cNvSpPr txBox="1"/>
          <p:nvPr/>
        </p:nvSpPr>
        <p:spPr>
          <a:xfrm>
            <a:off x="2032000" y="3225800"/>
            <a:ext cx="8636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69788C"/>
                </a:solidFill>
                <a:latin typeface="Inter"/>
                <a:ea typeface="Inter"/>
                <a:cs typeface="Inter"/>
                <a:sym typeface="Inter"/>
              </a:rPr>
              <a:t>Product positioning, aging-first design principles, and six core functional modules</a:t>
            </a:r>
            <a:endParaRPr lang="en-US" sz="1100"/>
          </a:p>
        </p:txBody>
      </p:sp>
      <p:cxnSp>
        <p:nvCxnSpPr>
          <p:cNvPr id="12" name="Connector 12"/>
          <p:cNvCxnSpPr/>
          <p:nvPr/>
        </p:nvCxnSpPr>
        <p:spPr>
          <a:xfrm rot="-4297">
            <a:off x="1016004" y="36512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3" name="AutoShape 13"/>
          <p:cNvSpPr txBox="1"/>
          <p:nvPr/>
        </p:nvSpPr>
        <p:spPr>
          <a:xfrm>
            <a:off x="1016000" y="3810000"/>
            <a:ext cx="762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5385BD"/>
                </a:solidFill>
                <a:latin typeface="Inter"/>
                <a:ea typeface="Inter"/>
                <a:cs typeface="Inter"/>
                <a:sym typeface="Inter"/>
              </a:rPr>
              <a:t>03</a:t>
            </a:r>
            <a:endParaRPr lang="en-US" sz="1100"/>
          </a:p>
        </p:txBody>
      </p:sp>
      <p:sp>
        <p:nvSpPr>
          <p:cNvPr id="14" name="AutoShape 14"/>
          <p:cNvSpPr txBox="1"/>
          <p:nvPr/>
        </p:nvSpPr>
        <p:spPr>
          <a:xfrm>
            <a:off x="2032000" y="3810000"/>
            <a:ext cx="6350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8263A"/>
                </a:solidFill>
                <a:latin typeface="Inter"/>
                <a:ea typeface="Inter"/>
                <a:cs typeface="Inter"/>
                <a:sym typeface="Inter"/>
              </a:rPr>
              <a:t>System Architecture &amp; Technology</a:t>
            </a:r>
            <a:endParaRPr lang="en-US" sz="1100"/>
          </a:p>
        </p:txBody>
      </p:sp>
      <p:sp>
        <p:nvSpPr>
          <p:cNvPr id="15" name="AutoShape 15"/>
          <p:cNvSpPr txBox="1"/>
          <p:nvPr/>
        </p:nvSpPr>
        <p:spPr>
          <a:xfrm>
            <a:off x="2032000" y="4140200"/>
            <a:ext cx="8636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69788C"/>
                </a:solidFill>
                <a:latin typeface="Inter"/>
                <a:ea typeface="Inter"/>
                <a:cs typeface="Inter"/>
                <a:sym typeface="Inter"/>
              </a:rPr>
              <a:t>Three-tier architecture, tech stack selection, and key implementation decisions</a:t>
            </a:r>
            <a:endParaRPr lang="en-US" sz="1100"/>
          </a:p>
        </p:txBody>
      </p:sp>
      <p:cxnSp>
        <p:nvCxnSpPr>
          <p:cNvPr id="16" name="Connector 16"/>
          <p:cNvCxnSpPr/>
          <p:nvPr/>
        </p:nvCxnSpPr>
        <p:spPr>
          <a:xfrm rot="-4297">
            <a:off x="1016004" y="4565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7" name="AutoShape 17"/>
          <p:cNvSpPr txBox="1"/>
          <p:nvPr/>
        </p:nvSpPr>
        <p:spPr>
          <a:xfrm>
            <a:off x="1016000" y="4724400"/>
            <a:ext cx="762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5385BD"/>
                </a:solidFill>
                <a:latin typeface="Inter"/>
                <a:ea typeface="Inter"/>
                <a:cs typeface="Inter"/>
                <a:sym typeface="Inter"/>
              </a:rPr>
              <a:t>04</a:t>
            </a:r>
            <a:endParaRPr lang="en-US" sz="1100"/>
          </a:p>
        </p:txBody>
      </p:sp>
      <p:sp>
        <p:nvSpPr>
          <p:cNvPr id="18" name="AutoShape 18"/>
          <p:cNvSpPr txBox="1"/>
          <p:nvPr/>
        </p:nvSpPr>
        <p:spPr>
          <a:xfrm>
            <a:off x="2032000" y="4724400"/>
            <a:ext cx="6350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8263A"/>
                </a:solidFill>
                <a:latin typeface="Inter"/>
                <a:ea typeface="Inter"/>
                <a:cs typeface="Inter"/>
                <a:sym typeface="Inter"/>
              </a:rPr>
              <a:t>Implementation &amp; Expected Outcomes</a:t>
            </a:r>
            <a:endParaRPr lang="en-US" sz="1100"/>
          </a:p>
        </p:txBody>
      </p:sp>
      <p:sp>
        <p:nvSpPr>
          <p:cNvPr id="19" name="AutoShape 19"/>
          <p:cNvSpPr txBox="1"/>
          <p:nvPr/>
        </p:nvSpPr>
        <p:spPr>
          <a:xfrm>
            <a:off x="2032000" y="5054600"/>
            <a:ext cx="8636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69788C"/>
                </a:solidFill>
                <a:latin typeface="Inter"/>
                <a:ea typeface="Inter"/>
                <a:cs typeface="Inter"/>
                <a:sym typeface="Inter"/>
              </a:rPr>
              <a:t>Project milestones, deliverables, and core innovation points</a:t>
            </a:r>
            <a:endParaRPr lang="en-US" sz="1100"/>
          </a:p>
        </p:txBody>
      </p:sp>
      <p:cxnSp>
        <p:nvCxnSpPr>
          <p:cNvPr id="20" name="Connector 20"/>
          <p:cNvCxnSpPr/>
          <p:nvPr/>
        </p:nvCxnSpPr>
        <p:spPr>
          <a:xfrm rot="-4297">
            <a:off x="1016004" y="5480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21" name="AutoShape 21"/>
          <p:cNvSpPr txBox="1"/>
          <p:nvPr/>
        </p:nvSpPr>
        <p:spPr>
          <a:xfrm>
            <a:off x="1016000" y="5638800"/>
            <a:ext cx="762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519D78"/>
                </a:solidFill>
                <a:latin typeface="Inter"/>
                <a:ea typeface="Inter"/>
                <a:cs typeface="Inter"/>
                <a:sym typeface="Inter"/>
              </a:rPr>
              <a:t>05</a:t>
            </a:r>
            <a:endParaRPr lang="en-US" sz="1100"/>
          </a:p>
        </p:txBody>
      </p:sp>
      <p:sp>
        <p:nvSpPr>
          <p:cNvPr id="22" name="AutoShape 22"/>
          <p:cNvSpPr txBox="1"/>
          <p:nvPr/>
        </p:nvSpPr>
        <p:spPr>
          <a:xfrm>
            <a:off x="2032000" y="5638800"/>
            <a:ext cx="6350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8263A"/>
                </a:solidFill>
                <a:latin typeface="Inter"/>
                <a:ea typeface="Inter"/>
                <a:cs typeface="Inter"/>
                <a:sym typeface="Inter"/>
              </a:rPr>
              <a:t>Summary &amp; Future Work</a:t>
            </a:r>
            <a:endParaRPr lang="en-US" sz="1100"/>
          </a:p>
        </p:txBody>
      </p:sp>
      <p:sp>
        <p:nvSpPr>
          <p:cNvPr id="23" name="AutoShape 23"/>
          <p:cNvSpPr txBox="1"/>
          <p:nvPr/>
        </p:nvSpPr>
        <p:spPr>
          <a:xfrm>
            <a:off x="2032000" y="5969000"/>
            <a:ext cx="8636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69788C"/>
                </a:solidFill>
                <a:latin typeface="Inter"/>
                <a:ea typeface="Inter"/>
                <a:cs typeface="Inter"/>
                <a:sym typeface="Inter"/>
              </a:rPr>
              <a:t>Key takeaways, limitations, and next steps</a:t>
            </a:r>
            <a:endParaRPr lang="en-US" sz="1100"/>
          </a:p>
        </p:txBody>
      </p:sp>
      <p:sp>
        <p:nvSpPr>
          <p:cNvPr id="24" name="AutoShape 24"/>
          <p:cNvSpPr txBox="1"/>
          <p:nvPr/>
        </p:nvSpPr>
        <p:spPr>
          <a:xfrm>
            <a:off x="1016000" y="64262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Eligo · Graduation Project Proposal · 2026</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3C7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3175000"/>
            <a:ext cx="12192000" cy="50800"/>
          </a:xfrm>
          <a:prstGeom prst="roundRect">
            <a:avLst>
              <a:gd name="adj" fmla="val 0"/>
            </a:avLst>
          </a:prstGeom>
          <a:solidFill>
            <a:srgbClr val="519D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016000" y="1778000"/>
            <a:ext cx="2540000" cy="762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5600" b="1" i="0" u="none" strike="noStrike">
                <a:solidFill>
                  <a:srgbClr val="FFFFFF">
                    <a:alpha val="34902"/>
                  </a:srgbClr>
                </a:solidFill>
                <a:latin typeface="Inter"/>
                <a:ea typeface="Inter"/>
                <a:cs typeface="Inter"/>
                <a:sym typeface="Inter"/>
              </a:rPr>
              <a:t>01</a:t>
            </a:r>
            <a:endParaRPr lang="en-US" sz="1100"/>
          </a:p>
        </p:txBody>
      </p:sp>
      <p:sp>
        <p:nvSpPr>
          <p:cNvPr id="4" name="AutoShape 4"/>
          <p:cNvSpPr txBox="1"/>
          <p:nvPr/>
        </p:nvSpPr>
        <p:spPr>
          <a:xfrm>
            <a:off x="1016000" y="3429000"/>
            <a:ext cx="1016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FFFFFF"/>
                </a:solidFill>
                <a:latin typeface="Inter"/>
                <a:ea typeface="Inter"/>
                <a:cs typeface="Inter"/>
                <a:sym typeface="Inter"/>
              </a:rPr>
              <a:t>Research Background &amp; Problem</a:t>
            </a:r>
            <a:endParaRPr lang="en-US" sz="1100"/>
          </a:p>
        </p:txBody>
      </p:sp>
      <p:sp>
        <p:nvSpPr>
          <p:cNvPr id="5" name="AutoShape 5"/>
          <p:cNvSpPr txBox="1"/>
          <p:nvPr/>
        </p:nvSpPr>
        <p:spPr>
          <a:xfrm>
            <a:off x="1016000" y="4318000"/>
            <a:ext cx="8890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FFFFFF">
                    <a:alpha val="74902"/>
                  </a:srgbClr>
                </a:solidFill>
                <a:latin typeface="Inter"/>
                <a:ea typeface="Inter"/>
                <a:cs typeface="Inter"/>
                <a:sym typeface="Inter"/>
              </a:rPr>
              <a:t>Why do older adults need a dedicated social platform?</a:t>
            </a:r>
            <a:endParaRPr lang="en-US" sz="1100"/>
          </a:p>
        </p:txBody>
      </p:sp>
      <p:sp>
        <p:nvSpPr>
          <p:cNvPr id="6" name="AutoShape 6"/>
          <p:cNvSpPr/>
          <p:nvPr/>
        </p:nvSpPr>
        <p:spPr>
          <a:xfrm>
            <a:off x="8890000" y="5080000"/>
            <a:ext cx="3048000" cy="1651000"/>
          </a:xfrm>
          <a:prstGeom prst="ellipse">
            <a:avLst/>
          </a:prstGeom>
          <a:solidFill>
            <a:srgbClr val="5385BD">
              <a:alpha val="2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541000" y="381000"/>
            <a:ext cx="1270000" cy="1270000"/>
          </a:xfrm>
          <a:prstGeom prst="ellipse">
            <a:avLst/>
          </a:prstGeom>
          <a:solidFill>
            <a:srgbClr val="519D78">
              <a:alpha val="25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01 RESEARCH BACKGROUND</a:t>
            </a:r>
            <a:endParaRPr lang="en-US" sz="1100"/>
          </a:p>
        </p:txBody>
      </p:sp>
      <p:sp>
        <p:nvSpPr>
          <p:cNvPr id="3" name="AutoShape 3"/>
          <p:cNvSpPr txBox="1"/>
          <p:nvPr/>
        </p:nvSpPr>
        <p:spPr>
          <a:xfrm>
            <a:off x="1016000" y="838200"/>
            <a:ext cx="10922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8263A"/>
                </a:solidFill>
                <a:latin typeface="Inter"/>
                <a:ea typeface="Inter"/>
                <a:cs typeface="Inter"/>
                <a:sym typeface="Inter"/>
              </a:rPr>
              <a:t>Aging is accelerating, but digital services leave seniors behind</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5" name="AutoShape 5"/>
          <p:cNvSpPr txBox="1"/>
          <p:nvPr/>
        </p:nvSpPr>
        <p:spPr>
          <a:xfrm>
            <a:off x="1016000" y="1905000"/>
            <a:ext cx="5334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C4858"/>
                </a:solidFill>
                <a:latin typeface="Inter"/>
                <a:ea typeface="Inter"/>
                <a:cs typeface="Inter"/>
                <a:sym typeface="Inter"/>
              </a:rPr>
              <a:t>China's population aged 60 and above has surpassed </a:t>
            </a:r>
            <a:r>
              <a:rPr lang="en-US" sz="1500" b="1" i="0" u="none" strike="noStrike">
                <a:solidFill>
                  <a:srgbClr val="1E3C78"/>
                </a:solidFill>
                <a:latin typeface="Inter"/>
                <a:ea typeface="Inter"/>
                <a:cs typeface="Inter"/>
                <a:sym typeface="Inter"/>
              </a:rPr>
              <a:t>300 million</a:t>
            </a:r>
            <a:r>
              <a:rPr lang="en-US" sz="1500" b="0" i="0" u="none" strike="noStrike">
                <a:solidFill>
                  <a:srgbClr val="3C4858"/>
                </a:solidFill>
                <a:latin typeface="Inter"/>
                <a:ea typeface="Inter"/>
                <a:cs typeface="Inter"/>
                <a:sym typeface="Inter"/>
              </a:rPr>
              <a:t>, the largest elderly population in the world. Yet most mainstream social apps were designed for young users with fast reactions, small screens, and dense layouts.</a:t>
            </a:r>
            <a:endParaRPr lang="en-US" sz="1100"/>
          </a:p>
          <a:p>
            <a:pPr marL="0" indent="0" algn="l">
              <a:lnSpc>
                <a:spcPct val="142000"/>
              </a:lnSpc>
            </a:pPr>
          </a:p>
          <a:p>
            <a:pPr marL="0" indent="0" algn="l">
              <a:lnSpc>
                <a:spcPct val="142000"/>
              </a:lnSpc>
            </a:pPr>
            <a:r>
              <a:rPr lang="en-US" sz="1500" b="0" i="0" u="none" strike="noStrike">
                <a:solidFill>
                  <a:srgbClr val="3C4858"/>
                </a:solidFill>
                <a:latin typeface="Inter"/>
                <a:ea typeface="Inter"/>
                <a:cs typeface="Inter"/>
                <a:sym typeface="Inter"/>
              </a:rPr>
              <a:t>Older adults face a </a:t>
            </a:r>
            <a:r>
              <a:rPr lang="en-US" sz="1500" b="1" i="0" u="none" strike="noStrike">
                <a:solidFill>
                  <a:srgbClr val="1E3C78"/>
                </a:solidFill>
                <a:latin typeface="Inter"/>
                <a:ea typeface="Inter"/>
                <a:cs typeface="Inter"/>
                <a:sym typeface="Inter"/>
              </a:rPr>
              <a:t>digital divide</a:t>
            </a:r>
            <a:r>
              <a:rPr lang="en-US" sz="1500" b="0" i="0" u="none" strike="noStrike">
                <a:solidFill>
                  <a:srgbClr val="3C4858"/>
                </a:solidFill>
                <a:latin typeface="Inter"/>
                <a:ea typeface="Inter"/>
                <a:cs typeface="Inter"/>
                <a:sym typeface="Inter"/>
              </a:rPr>
              <a:t>: they want to socialize and join activities, but the interfaces themselves become a barrier instead of a bridge.</a:t>
            </a:r>
            <a:endParaRPr lang="en-US" sz="1500" b="0" i="0" u="none" strike="noStrike">
              <a:solidFill>
                <a:srgbClr val="3C4858"/>
              </a:solidFill>
              <a:latin typeface="Inter"/>
              <a:ea typeface="Inter"/>
              <a:cs typeface="Inter"/>
              <a:sym typeface="Inter"/>
            </a:endParaRPr>
          </a:p>
        </p:txBody>
      </p:sp>
      <p:sp>
        <p:nvSpPr>
          <p:cNvPr id="6" name="AutoShape 6"/>
          <p:cNvSpPr txBox="1"/>
          <p:nvPr/>
        </p:nvSpPr>
        <p:spPr>
          <a:xfrm>
            <a:off x="7112000" y="1879600"/>
            <a:ext cx="381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5385BD"/>
                </a:solidFill>
                <a:latin typeface="Inter"/>
                <a:ea typeface="Inter"/>
                <a:cs typeface="Inter"/>
                <a:sym typeface="Inter"/>
              </a:rPr>
              <a:t>300M+</a:t>
            </a:r>
            <a:endParaRPr lang="en-US" sz="1100"/>
          </a:p>
        </p:txBody>
      </p:sp>
      <p:sp>
        <p:nvSpPr>
          <p:cNvPr id="7" name="AutoShape 7"/>
          <p:cNvSpPr txBox="1"/>
          <p:nvPr/>
        </p:nvSpPr>
        <p:spPr>
          <a:xfrm>
            <a:off x="7112000" y="2540000"/>
            <a:ext cx="4318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69788C"/>
                </a:solidFill>
                <a:latin typeface="Inter"/>
                <a:ea typeface="Inter"/>
                <a:cs typeface="Inter"/>
                <a:sym typeface="Inter"/>
              </a:rPr>
              <a:t>Adults aged 60+ in China, 2024</a:t>
            </a:r>
            <a:endParaRPr lang="en-US" sz="1100"/>
          </a:p>
        </p:txBody>
      </p:sp>
      <p:cxnSp>
        <p:nvCxnSpPr>
          <p:cNvPr id="8" name="Connector 8"/>
          <p:cNvCxnSpPr/>
          <p:nvPr/>
        </p:nvCxnSpPr>
        <p:spPr>
          <a:xfrm rot="-10742">
            <a:off x="7112010" y="2914650"/>
            <a:ext cx="4064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9" name="AutoShape 9"/>
          <p:cNvSpPr txBox="1"/>
          <p:nvPr/>
        </p:nvSpPr>
        <p:spPr>
          <a:xfrm>
            <a:off x="7112000" y="3098800"/>
            <a:ext cx="381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5385BD"/>
                </a:solidFill>
                <a:latin typeface="Inter"/>
                <a:ea typeface="Inter"/>
                <a:cs typeface="Inter"/>
                <a:sym typeface="Inter"/>
              </a:rPr>
              <a:t>~70%</a:t>
            </a:r>
            <a:endParaRPr lang="en-US" sz="1100"/>
          </a:p>
        </p:txBody>
      </p:sp>
      <p:sp>
        <p:nvSpPr>
          <p:cNvPr id="10" name="AutoShape 10"/>
          <p:cNvSpPr txBox="1"/>
          <p:nvPr/>
        </p:nvSpPr>
        <p:spPr>
          <a:xfrm>
            <a:off x="7112000" y="3759200"/>
            <a:ext cx="4318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69788C"/>
                </a:solidFill>
                <a:latin typeface="Inter"/>
                <a:ea typeface="Inter"/>
                <a:cs typeface="Inter"/>
                <a:sym typeface="Inter"/>
              </a:rPr>
              <a:t>Struggle to use mainstream apps independently</a:t>
            </a:r>
            <a:endParaRPr lang="en-US" sz="1100"/>
          </a:p>
        </p:txBody>
      </p:sp>
      <p:cxnSp>
        <p:nvCxnSpPr>
          <p:cNvPr id="11" name="Connector 11"/>
          <p:cNvCxnSpPr/>
          <p:nvPr/>
        </p:nvCxnSpPr>
        <p:spPr>
          <a:xfrm rot="-10742">
            <a:off x="7112010" y="4133850"/>
            <a:ext cx="4064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2" name="AutoShape 12"/>
          <p:cNvSpPr txBox="1"/>
          <p:nvPr/>
        </p:nvSpPr>
        <p:spPr>
          <a:xfrm>
            <a:off x="7112000" y="4318000"/>
            <a:ext cx="381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519D78"/>
                </a:solidFill>
                <a:latin typeface="Inter"/>
                <a:ea typeface="Inter"/>
                <a:cs typeface="Inter"/>
                <a:sym typeface="Inter"/>
              </a:rPr>
              <a:t>High</a:t>
            </a:r>
            <a:endParaRPr lang="en-US" sz="1100"/>
          </a:p>
        </p:txBody>
      </p:sp>
      <p:sp>
        <p:nvSpPr>
          <p:cNvPr id="13" name="AutoShape 13"/>
          <p:cNvSpPr txBox="1"/>
          <p:nvPr/>
        </p:nvSpPr>
        <p:spPr>
          <a:xfrm>
            <a:off x="7112000" y="4978400"/>
            <a:ext cx="4318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69788C"/>
                </a:solidFill>
                <a:latin typeface="Inter"/>
                <a:ea typeface="Inter"/>
                <a:cs typeface="Inter"/>
                <a:sym typeface="Inter"/>
              </a:rPr>
              <a:t>Social isolation risk among community-dwelling seniors</a:t>
            </a:r>
            <a:endParaRPr lang="en-US" sz="1100"/>
          </a:p>
        </p:txBody>
      </p:sp>
      <p:cxnSp>
        <p:nvCxnSpPr>
          <p:cNvPr id="14" name="Connector 14"/>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5" name="AutoShape 15"/>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Source: National Bureau of Statistics of China, 2024 · Survey figures are illustrative and will be cited in the final report.</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01 RESEARCH BACKGROUND</a:t>
            </a:r>
            <a:endParaRPr lang="en-US" sz="1100"/>
          </a:p>
        </p:txBody>
      </p:sp>
      <p:sp>
        <p:nvSpPr>
          <p:cNvPr id="3" name="AutoShape 3"/>
          <p:cNvSpPr txBox="1"/>
          <p:nvPr/>
        </p:nvSpPr>
        <p:spPr>
          <a:xfrm>
            <a:off x="1016000" y="838200"/>
            <a:ext cx="10922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8263A"/>
                </a:solidFill>
                <a:latin typeface="Inter"/>
                <a:ea typeface="Inter"/>
                <a:cs typeface="Inter"/>
                <a:sym typeface="Inter"/>
              </a:rPr>
              <a:t>Three pain points stand between seniors and social connection</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5" name="AutoShape 5"/>
          <p:cNvSpPr txBox="1"/>
          <p:nvPr/>
        </p:nvSpPr>
        <p:spPr>
          <a:xfrm>
            <a:off x="1016000" y="1968500"/>
            <a:ext cx="635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200" b="1" i="0" u="none" strike="noStrike">
                <a:solidFill>
                  <a:srgbClr val="5385BD"/>
                </a:solidFill>
                <a:latin typeface="Inter"/>
                <a:ea typeface="Inter"/>
                <a:cs typeface="Inter"/>
                <a:sym typeface="Inter"/>
              </a:rPr>
              <a:t>01</a:t>
            </a:r>
            <a:endParaRPr lang="en-US" sz="1100"/>
          </a:p>
        </p:txBody>
      </p:sp>
      <p:sp>
        <p:nvSpPr>
          <p:cNvPr id="6" name="AutoShape 6"/>
          <p:cNvSpPr txBox="1"/>
          <p:nvPr/>
        </p:nvSpPr>
        <p:spPr>
          <a:xfrm>
            <a:off x="1905000" y="1968500"/>
            <a:ext cx="8890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8263A"/>
                </a:solidFill>
                <a:latin typeface="Inter"/>
                <a:ea typeface="Inter"/>
                <a:cs typeface="Inter"/>
                <a:sym typeface="Inter"/>
              </a:rPr>
              <a:t>Loneliness &amp; Social Isolation</a:t>
            </a:r>
            <a:endParaRPr lang="en-US" sz="1100"/>
          </a:p>
        </p:txBody>
      </p:sp>
      <p:sp>
        <p:nvSpPr>
          <p:cNvPr id="7" name="AutoShape 7"/>
          <p:cNvSpPr txBox="1"/>
          <p:nvPr/>
        </p:nvSpPr>
        <p:spPr>
          <a:xfrm>
            <a:off x="1905000" y="23622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9788C"/>
                </a:solidFill>
                <a:latin typeface="Inter"/>
                <a:ea typeface="Inter"/>
                <a:cs typeface="Inter"/>
                <a:sym typeface="Inter"/>
              </a:rPr>
              <a:t>Older adults lack convenient channels to discover and join offline activities. Existing community features are dominated by younger users, leaving no peer-friendly space for retirees.</a:t>
            </a:r>
            <a:endParaRPr lang="en-US" sz="1100"/>
          </a:p>
        </p:txBody>
      </p:sp>
      <p:cxnSp>
        <p:nvCxnSpPr>
          <p:cNvPr id="8" name="Connector 8"/>
          <p:cNvCxnSpPr/>
          <p:nvPr/>
        </p:nvCxnSpPr>
        <p:spPr>
          <a:xfrm rot="-4297">
            <a:off x="1016004" y="31432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9" name="AutoShape 9"/>
          <p:cNvSpPr txBox="1"/>
          <p:nvPr/>
        </p:nvSpPr>
        <p:spPr>
          <a:xfrm>
            <a:off x="1016000" y="3429000"/>
            <a:ext cx="635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200" b="1" i="0" u="none" strike="noStrike">
                <a:solidFill>
                  <a:srgbClr val="5385BD"/>
                </a:solidFill>
                <a:latin typeface="Inter"/>
                <a:ea typeface="Inter"/>
                <a:cs typeface="Inter"/>
                <a:sym typeface="Inter"/>
              </a:rPr>
              <a:t>02</a:t>
            </a:r>
            <a:endParaRPr lang="en-US" sz="1100"/>
          </a:p>
        </p:txBody>
      </p:sp>
      <p:sp>
        <p:nvSpPr>
          <p:cNvPr id="10" name="AutoShape 10"/>
          <p:cNvSpPr txBox="1"/>
          <p:nvPr/>
        </p:nvSpPr>
        <p:spPr>
          <a:xfrm>
            <a:off x="1905000" y="3429000"/>
            <a:ext cx="8890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8263A"/>
                </a:solidFill>
                <a:latin typeface="Inter"/>
                <a:ea typeface="Inter"/>
                <a:cs typeface="Inter"/>
                <a:sym typeface="Inter"/>
              </a:rPr>
              <a:t>The Digital Divide</a:t>
            </a:r>
            <a:endParaRPr lang="en-US" sz="1100"/>
          </a:p>
        </p:txBody>
      </p:sp>
      <p:sp>
        <p:nvSpPr>
          <p:cNvPr id="11" name="AutoShape 11"/>
          <p:cNvSpPr txBox="1"/>
          <p:nvPr/>
        </p:nvSpPr>
        <p:spPr>
          <a:xfrm>
            <a:off x="1905000" y="38227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9788C"/>
                </a:solidFill>
                <a:latin typeface="Inter"/>
                <a:ea typeface="Inter"/>
                <a:cs typeface="Inter"/>
                <a:sym typeface="Inter"/>
              </a:rPr>
              <a:t>Tiny fonts, dense menus, multi-step flows and unfamiliar icons make mainstream apps difficult. Many seniors need family members nearby just to complete basic tasks.</a:t>
            </a:r>
            <a:endParaRPr lang="en-US" sz="1100"/>
          </a:p>
        </p:txBody>
      </p:sp>
      <p:cxnSp>
        <p:nvCxnSpPr>
          <p:cNvPr id="12" name="Connector 12"/>
          <p:cNvCxnSpPr/>
          <p:nvPr/>
        </p:nvCxnSpPr>
        <p:spPr>
          <a:xfrm rot="-4297">
            <a:off x="1016004" y="46037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3" name="AutoShape 13"/>
          <p:cNvSpPr txBox="1"/>
          <p:nvPr/>
        </p:nvSpPr>
        <p:spPr>
          <a:xfrm>
            <a:off x="1016000" y="4889500"/>
            <a:ext cx="635000" cy="457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200" b="1" i="0" u="none" strike="noStrike">
                <a:solidFill>
                  <a:srgbClr val="519D78"/>
                </a:solidFill>
                <a:latin typeface="Inter"/>
                <a:ea typeface="Inter"/>
                <a:cs typeface="Inter"/>
                <a:sym typeface="Inter"/>
              </a:rPr>
              <a:t>03</a:t>
            </a:r>
            <a:endParaRPr lang="en-US" sz="1100"/>
          </a:p>
        </p:txBody>
      </p:sp>
      <p:sp>
        <p:nvSpPr>
          <p:cNvPr id="14" name="AutoShape 14"/>
          <p:cNvSpPr txBox="1"/>
          <p:nvPr/>
        </p:nvSpPr>
        <p:spPr>
          <a:xfrm>
            <a:off x="1905000" y="4889500"/>
            <a:ext cx="8890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8263A"/>
                </a:solidFill>
                <a:latin typeface="Inter"/>
                <a:ea typeface="Inter"/>
                <a:cs typeface="Inter"/>
                <a:sym typeface="Inter"/>
              </a:rPr>
              <a:t>Safety Concerns</a:t>
            </a:r>
            <a:endParaRPr lang="en-US" sz="1100"/>
          </a:p>
        </p:txBody>
      </p:sp>
      <p:sp>
        <p:nvSpPr>
          <p:cNvPr id="15" name="AutoShape 15"/>
          <p:cNvSpPr txBox="1"/>
          <p:nvPr/>
        </p:nvSpPr>
        <p:spPr>
          <a:xfrm>
            <a:off x="1905000" y="52832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9788C"/>
                </a:solidFill>
                <a:latin typeface="Inter"/>
                <a:ea typeface="Inter"/>
                <a:cs typeface="Inter"/>
                <a:sym typeface="Inter"/>
              </a:rPr>
              <a:t>Without identity verification, emergency contact, or location-based assistance, offline meetings between strangers carry real safety risks that deter seniors from participating.</a:t>
            </a:r>
            <a:endParaRPr lang="en-US" sz="1100"/>
          </a:p>
        </p:txBody>
      </p:sp>
      <p:cxnSp>
        <p:nvCxnSpPr>
          <p:cNvPr id="16" name="Connector 16"/>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7" name="AutoShape 17"/>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Eligo is designed to address all three gaps simultaneously, not just one.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3C7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3175000"/>
            <a:ext cx="12192000" cy="50800"/>
          </a:xfrm>
          <a:prstGeom prst="roundRect">
            <a:avLst>
              <a:gd name="adj" fmla="val 0"/>
            </a:avLst>
          </a:prstGeom>
          <a:solidFill>
            <a:srgbClr val="519D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016000" y="1778000"/>
            <a:ext cx="2540000" cy="762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5600" b="1" i="0" u="none" strike="noStrike">
                <a:solidFill>
                  <a:srgbClr val="FFFFFF">
                    <a:alpha val="34902"/>
                  </a:srgbClr>
                </a:solidFill>
                <a:latin typeface="Inter"/>
                <a:ea typeface="Inter"/>
                <a:cs typeface="Inter"/>
                <a:sym typeface="Inter"/>
              </a:rPr>
              <a:t>02</a:t>
            </a:r>
            <a:endParaRPr lang="en-US" sz="1100"/>
          </a:p>
        </p:txBody>
      </p:sp>
      <p:sp>
        <p:nvSpPr>
          <p:cNvPr id="4" name="AutoShape 4"/>
          <p:cNvSpPr txBox="1"/>
          <p:nvPr/>
        </p:nvSpPr>
        <p:spPr>
          <a:xfrm>
            <a:off x="1016000" y="3429000"/>
            <a:ext cx="1016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FFFFFF"/>
                </a:solidFill>
                <a:latin typeface="Inter"/>
                <a:ea typeface="Inter"/>
                <a:cs typeface="Inter"/>
                <a:sym typeface="Inter"/>
              </a:rPr>
              <a:t>Proposed Solution: The Eligo Platform</a:t>
            </a:r>
            <a:endParaRPr lang="en-US" sz="1100"/>
          </a:p>
        </p:txBody>
      </p:sp>
      <p:sp>
        <p:nvSpPr>
          <p:cNvPr id="5" name="AutoShape 5"/>
          <p:cNvSpPr txBox="1"/>
          <p:nvPr/>
        </p:nvSpPr>
        <p:spPr>
          <a:xfrm>
            <a:off x="1016000" y="4318000"/>
            <a:ext cx="8890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FFFFFF">
                    <a:alpha val="74902"/>
                  </a:srgbClr>
                </a:solidFill>
                <a:latin typeface="Inter"/>
                <a:ea typeface="Inter"/>
                <a:cs typeface="Inter"/>
                <a:sym typeface="Inter"/>
              </a:rPr>
              <a:t>What Eligo is, and how its design differs from mainstream social apps</a:t>
            </a:r>
            <a:endParaRPr lang="en-US" sz="1100"/>
          </a:p>
        </p:txBody>
      </p:sp>
      <p:pic>
        <p:nvPicPr>
          <p:cNvPr id="6" name="Picture 6"/>
          <p:cNvPicPr>
            <a:picLocks noChangeAspect="1"/>
          </p:cNvPicPr>
          <p:nvPr/>
        </p:nvPicPr>
        <p:blipFill>
          <a:blip r:embed="rId1"/>
          <a:srcRect t="7" b="7"/>
          <a:stretch>
            <a:fillRect/>
          </a:stretch>
        </p:blipFill>
        <p:spPr>
          <a:xfrm>
            <a:off x="4572000" y="4889500"/>
            <a:ext cx="3048000" cy="1905000"/>
          </a:xfrm>
          <a:prstGeom prst="rect">
            <a:avLst/>
          </a:prstGeom>
          <a:noFill/>
          <a:ln w="25400" cap="flat" cmpd="sng">
            <a:noFill/>
            <a:prstDash val="solid"/>
            <a:rou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02 PROPOSED SOLUTION</a:t>
            </a:r>
            <a:endParaRPr lang="en-US" sz="1100"/>
          </a:p>
        </p:txBody>
      </p:sp>
      <p:sp>
        <p:nvSpPr>
          <p:cNvPr id="3" name="AutoShape 3"/>
          <p:cNvSpPr txBox="1"/>
          <p:nvPr/>
        </p:nvSpPr>
        <p:spPr>
          <a:xfrm>
            <a:off x="1016000" y="8382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18263A"/>
                </a:solidFill>
                <a:latin typeface="Inter"/>
                <a:ea typeface="Inter"/>
                <a:cs typeface="Inter"/>
                <a:sym typeface="Inter"/>
              </a:rPr>
              <a:t>Built for seniors, not adapted for them</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5" name="AutoShape 5"/>
          <p:cNvSpPr txBox="1"/>
          <p:nvPr/>
        </p:nvSpPr>
        <p:spPr>
          <a:xfrm>
            <a:off x="1016000" y="1968500"/>
            <a:ext cx="4826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C4858"/>
                </a:solidFill>
                <a:latin typeface="Inter"/>
                <a:ea typeface="Inter"/>
                <a:cs typeface="Inter"/>
                <a:sym typeface="Inter"/>
              </a:rPr>
              <a:t>Eligo helps older adults discover nearby peer-led activities, join with one tap, and stay connected with friends through lightweight messaging.</a:t>
            </a:r>
            <a:endParaRPr lang="en-US" sz="1100"/>
          </a:p>
          <a:p>
            <a:pPr marL="0" indent="0" algn="l">
              <a:lnSpc>
                <a:spcPct val="142000"/>
              </a:lnSpc>
            </a:pPr>
          </a:p>
          <a:p>
            <a:pPr marL="0" indent="0" algn="l">
              <a:lnSpc>
                <a:spcPct val="142000"/>
              </a:lnSpc>
            </a:pPr>
            <a:r>
              <a:rPr lang="en-US" sz="1500" b="0" i="0" u="none" strike="noStrike">
                <a:solidFill>
                  <a:srgbClr val="3C4858"/>
                </a:solidFill>
                <a:latin typeface="Inter"/>
                <a:ea typeface="Inter"/>
                <a:cs typeface="Inter"/>
                <a:sym typeface="Inter"/>
              </a:rPr>
              <a:t>Every screen follows an </a:t>
            </a:r>
            <a:r>
              <a:rPr lang="en-US" sz="1500" b="1" i="0" u="none" strike="noStrike">
                <a:solidFill>
                  <a:srgbClr val="1E3C78"/>
                </a:solidFill>
                <a:latin typeface="Inter"/>
                <a:ea typeface="Inter"/>
                <a:cs typeface="Inter"/>
                <a:sym typeface="Inter"/>
              </a:rPr>
              <a:t>aging-first</a:t>
            </a:r>
            <a:r>
              <a:rPr lang="en-US" sz="1500" b="0" i="0" u="none" strike="noStrike">
                <a:solidFill>
                  <a:srgbClr val="3C4858"/>
                </a:solidFill>
                <a:latin typeface="Inter"/>
                <a:ea typeface="Inter"/>
                <a:cs typeface="Inter"/>
                <a:sym typeface="Inter"/>
              </a:rPr>
              <a:t> approach: large readable type, high contrast, generous touch targets, and a maximum of three steps per task.</a:t>
            </a:r>
            <a:endParaRPr lang="en-US" sz="1500" b="0" i="0" u="none" strike="noStrike">
              <a:solidFill>
                <a:srgbClr val="3C4858"/>
              </a:solidFill>
              <a:latin typeface="Inter"/>
              <a:ea typeface="Inter"/>
              <a:cs typeface="Inter"/>
              <a:sym typeface="Inter"/>
            </a:endParaRPr>
          </a:p>
          <a:p>
            <a:pPr marL="0" indent="0" algn="l">
              <a:lnSpc>
                <a:spcPct val="142000"/>
              </a:lnSpc>
            </a:pPr>
          </a:p>
          <a:p>
            <a:pPr marL="0" indent="0" algn="l">
              <a:lnSpc>
                <a:spcPct val="142000"/>
              </a:lnSpc>
            </a:pPr>
            <a:r>
              <a:rPr lang="en-US" sz="1500" b="0" i="0" u="none" strike="noStrike">
                <a:solidFill>
                  <a:srgbClr val="3C4858"/>
                </a:solidFill>
                <a:latin typeface="Inter"/>
                <a:ea typeface="Inter"/>
                <a:cs typeface="Inter"/>
                <a:sym typeface="Inter"/>
              </a:rPr>
              <a:t>An integrated </a:t>
            </a:r>
            <a:r>
              <a:rPr lang="en-US" sz="1500" b="1" i="0" u="none" strike="noStrike">
                <a:solidFill>
                  <a:srgbClr val="519D78"/>
                </a:solidFill>
                <a:latin typeface="Inter"/>
                <a:ea typeface="Inter"/>
                <a:cs typeface="Inter"/>
                <a:sym typeface="Inter"/>
              </a:rPr>
              <a:t>SOS safety feature</a:t>
            </a:r>
            <a:r>
              <a:rPr lang="en-US" sz="1500" b="0" i="0" u="none" strike="noStrike">
                <a:solidFill>
                  <a:srgbClr val="3C4858"/>
                </a:solidFill>
                <a:latin typeface="Inter"/>
                <a:ea typeface="Inter"/>
                <a:cs typeface="Inter"/>
                <a:sym typeface="Inter"/>
              </a:rPr>
              <a:t> lets users alert trusted contacts during offline activities.</a:t>
            </a:r>
            <a:endParaRPr lang="en-US" sz="1500" b="0" i="0" u="none" strike="noStrike">
              <a:solidFill>
                <a:srgbClr val="3C4858"/>
              </a:solidFill>
              <a:latin typeface="Inter"/>
              <a:ea typeface="Inter"/>
              <a:cs typeface="Inter"/>
              <a:sym typeface="Inter"/>
            </a:endParaRPr>
          </a:p>
        </p:txBody>
      </p:sp>
      <p:cxnSp>
        <p:nvCxnSpPr>
          <p:cNvPr id="6" name="Connector 6"/>
          <p:cNvCxnSpPr/>
          <p:nvPr/>
        </p:nvCxnSpPr>
        <p:spPr>
          <a:xfrm rot="5387499">
            <a:off x="4476750" y="3708412"/>
            <a:ext cx="34925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7" name="AutoShape 7"/>
          <p:cNvSpPr txBox="1"/>
          <p:nvPr/>
        </p:nvSpPr>
        <p:spPr>
          <a:xfrm>
            <a:off x="6731000" y="1968500"/>
            <a:ext cx="4445000" cy="279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1" i="0" u="none" strike="noStrike">
                <a:solidFill>
                  <a:srgbClr val="1E3C78"/>
                </a:solidFill>
                <a:latin typeface="Inter"/>
                <a:ea typeface="Inter"/>
                <a:cs typeface="Inter"/>
                <a:sym typeface="Inter"/>
              </a:rPr>
              <a:t>Four aging-first design principles</a:t>
            </a:r>
            <a:endParaRPr lang="en-US" sz="1100"/>
          </a:p>
        </p:txBody>
      </p:sp>
      <p:sp>
        <p:nvSpPr>
          <p:cNvPr id="8" name="AutoShape 8"/>
          <p:cNvSpPr txBox="1"/>
          <p:nvPr/>
        </p:nvSpPr>
        <p:spPr>
          <a:xfrm>
            <a:off x="6731000" y="2476500"/>
            <a:ext cx="381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5385BD"/>
                </a:solidFill>
                <a:latin typeface="Inter"/>
                <a:ea typeface="Inter"/>
                <a:cs typeface="Inter"/>
                <a:sym typeface="Inter"/>
              </a:rPr>
              <a:t>1</a:t>
            </a:r>
            <a:endParaRPr lang="en-US" sz="1100"/>
          </a:p>
        </p:txBody>
      </p:sp>
      <p:sp>
        <p:nvSpPr>
          <p:cNvPr id="9" name="AutoShape 9"/>
          <p:cNvSpPr txBox="1"/>
          <p:nvPr/>
        </p:nvSpPr>
        <p:spPr>
          <a:xfrm>
            <a:off x="7175500" y="2476500"/>
            <a:ext cx="40005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C4858"/>
                </a:solidFill>
                <a:latin typeface="Inter"/>
                <a:ea typeface="Inter"/>
                <a:cs typeface="Inter"/>
                <a:sym typeface="Inter"/>
              </a:rPr>
              <a:t>Large type &amp; high contrast</a:t>
            </a:r>
            <a:r>
              <a:rPr lang="en-US" sz="1300" b="0" i="0" u="none" strike="noStrike">
                <a:solidFill>
                  <a:srgbClr val="3C4858"/>
                </a:solidFill>
                <a:latin typeface="Inter"/>
                <a:ea typeface="Inter"/>
                <a:cs typeface="Inter"/>
                <a:sym typeface="Inter"/>
              </a:rPr>
              <a:t> — minimum 18sp body text, WCAG AA contrast</a:t>
            </a:r>
            <a:endParaRPr lang="en-US" sz="1100"/>
          </a:p>
        </p:txBody>
      </p:sp>
      <p:sp>
        <p:nvSpPr>
          <p:cNvPr id="10" name="AutoShape 10"/>
          <p:cNvSpPr txBox="1"/>
          <p:nvPr/>
        </p:nvSpPr>
        <p:spPr>
          <a:xfrm>
            <a:off x="6731000" y="3238500"/>
            <a:ext cx="381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5385BD"/>
                </a:solidFill>
                <a:latin typeface="Inter"/>
                <a:ea typeface="Inter"/>
                <a:cs typeface="Inter"/>
                <a:sym typeface="Inter"/>
              </a:rPr>
              <a:t>2</a:t>
            </a:r>
            <a:endParaRPr lang="en-US" sz="1100"/>
          </a:p>
        </p:txBody>
      </p:sp>
      <p:sp>
        <p:nvSpPr>
          <p:cNvPr id="11" name="AutoShape 11"/>
          <p:cNvSpPr txBox="1"/>
          <p:nvPr/>
        </p:nvSpPr>
        <p:spPr>
          <a:xfrm>
            <a:off x="7175500" y="3238500"/>
            <a:ext cx="40005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C4858"/>
                </a:solidFill>
                <a:latin typeface="Inter"/>
                <a:ea typeface="Inter"/>
                <a:cs typeface="Inter"/>
                <a:sym typeface="Inter"/>
              </a:rPr>
              <a:t>Generous touch targets</a:t>
            </a:r>
            <a:r>
              <a:rPr lang="en-US" sz="1300" b="0" i="0" u="none" strike="noStrike">
                <a:solidFill>
                  <a:srgbClr val="3C4858"/>
                </a:solidFill>
                <a:latin typeface="Inter"/>
                <a:ea typeface="Inter"/>
                <a:cs typeface="Inter"/>
                <a:sym typeface="Inter"/>
              </a:rPr>
              <a:t> — 48dp minimum buttons, no accidental taps</a:t>
            </a:r>
            <a:endParaRPr lang="en-US" sz="1100"/>
          </a:p>
        </p:txBody>
      </p:sp>
      <p:sp>
        <p:nvSpPr>
          <p:cNvPr id="12" name="AutoShape 12"/>
          <p:cNvSpPr txBox="1"/>
          <p:nvPr/>
        </p:nvSpPr>
        <p:spPr>
          <a:xfrm>
            <a:off x="6731000" y="4000500"/>
            <a:ext cx="381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5385BD"/>
                </a:solidFill>
                <a:latin typeface="Inter"/>
                <a:ea typeface="Inter"/>
                <a:cs typeface="Inter"/>
                <a:sym typeface="Inter"/>
              </a:rPr>
              <a:t>3</a:t>
            </a:r>
            <a:endParaRPr lang="en-US" sz="1100"/>
          </a:p>
        </p:txBody>
      </p:sp>
      <p:sp>
        <p:nvSpPr>
          <p:cNvPr id="13" name="AutoShape 13"/>
          <p:cNvSpPr txBox="1"/>
          <p:nvPr/>
        </p:nvSpPr>
        <p:spPr>
          <a:xfrm>
            <a:off x="7175500" y="4000500"/>
            <a:ext cx="40005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C4858"/>
                </a:solidFill>
                <a:latin typeface="Inter"/>
                <a:ea typeface="Inter"/>
                <a:cs typeface="Inter"/>
                <a:sym typeface="Inter"/>
              </a:rPr>
              <a:t>Maximum three-step tasks</a:t>
            </a:r>
            <a:r>
              <a:rPr lang="en-US" sz="1300" b="0" i="0" u="none" strike="noStrike">
                <a:solidFill>
                  <a:srgbClr val="3C4858"/>
                </a:solidFill>
                <a:latin typeface="Inter"/>
                <a:ea typeface="Inter"/>
                <a:cs typeface="Inter"/>
                <a:sym typeface="Inter"/>
              </a:rPr>
              <a:t> — sign up, post, and chat all take 3 taps</a:t>
            </a:r>
            <a:endParaRPr lang="en-US" sz="1100"/>
          </a:p>
        </p:txBody>
      </p:sp>
      <p:sp>
        <p:nvSpPr>
          <p:cNvPr id="14" name="AutoShape 14"/>
          <p:cNvSpPr txBox="1"/>
          <p:nvPr/>
        </p:nvSpPr>
        <p:spPr>
          <a:xfrm>
            <a:off x="6731000" y="4762500"/>
            <a:ext cx="381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519D78"/>
                </a:solidFill>
                <a:latin typeface="Inter"/>
                <a:ea typeface="Inter"/>
                <a:cs typeface="Inter"/>
                <a:sym typeface="Inter"/>
              </a:rPr>
              <a:t>4</a:t>
            </a:r>
            <a:endParaRPr lang="en-US" sz="1100"/>
          </a:p>
        </p:txBody>
      </p:sp>
      <p:sp>
        <p:nvSpPr>
          <p:cNvPr id="15" name="AutoShape 15"/>
          <p:cNvSpPr txBox="1"/>
          <p:nvPr/>
        </p:nvSpPr>
        <p:spPr>
          <a:xfrm>
            <a:off x="7175500" y="4762500"/>
            <a:ext cx="40005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C4858"/>
                </a:solidFill>
                <a:latin typeface="Inter"/>
                <a:ea typeface="Inter"/>
                <a:cs typeface="Inter"/>
                <a:sym typeface="Inter"/>
              </a:rPr>
              <a:t>Safety by default</a:t>
            </a:r>
            <a:r>
              <a:rPr lang="en-US" sz="1300" b="0" i="0" u="none" strike="noStrike">
                <a:solidFill>
                  <a:srgbClr val="3C4858"/>
                </a:solidFill>
                <a:latin typeface="Inter"/>
                <a:ea typeface="Inter"/>
                <a:cs typeface="Inter"/>
                <a:sym typeface="Inter"/>
              </a:rPr>
              <a:t> — SOS alert, emergency contacts, activity check-ins</a:t>
            </a:r>
            <a:endParaRPr lang="en-US" sz="1100"/>
          </a:p>
        </p:txBody>
      </p:sp>
      <p:cxnSp>
        <p:nvCxnSpPr>
          <p:cNvPr id="16" name="Connector 16"/>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7" name="AutoShape 17"/>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Eligo · Graduation Project Proposal · 2026</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02 PROPOSED SOLUTION</a:t>
            </a:r>
            <a:endParaRPr lang="en-US" sz="1100"/>
          </a:p>
        </p:txBody>
      </p:sp>
      <p:sp>
        <p:nvSpPr>
          <p:cNvPr id="3" name="AutoShape 3"/>
          <p:cNvSpPr txBox="1"/>
          <p:nvPr/>
        </p:nvSpPr>
        <p:spPr>
          <a:xfrm>
            <a:off x="1016000" y="8382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8263A"/>
                </a:solidFill>
                <a:latin typeface="Inter"/>
                <a:ea typeface="Inter"/>
                <a:cs typeface="Inter"/>
                <a:sym typeface="Inter"/>
              </a:rPr>
              <a:t>Six functional modules cover the complete activity loop</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5" name="AutoShape 5"/>
          <p:cNvSpPr txBox="1"/>
          <p:nvPr/>
        </p:nvSpPr>
        <p:spPr>
          <a:xfrm>
            <a:off x="1016000" y="2032000"/>
            <a:ext cx="508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5385BD"/>
                </a:solidFill>
                <a:latin typeface="Inter"/>
                <a:ea typeface="Inter"/>
                <a:cs typeface="Inter"/>
                <a:sym typeface="Inter"/>
              </a:rPr>
              <a:t>1</a:t>
            </a:r>
            <a:endParaRPr lang="en-US" sz="1100"/>
          </a:p>
        </p:txBody>
      </p:sp>
      <p:sp>
        <p:nvSpPr>
          <p:cNvPr id="6" name="AutoShape 6"/>
          <p:cNvSpPr txBox="1"/>
          <p:nvPr/>
        </p:nvSpPr>
        <p:spPr>
          <a:xfrm>
            <a:off x="1587500" y="2032000"/>
            <a:ext cx="2286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1" i="0" u="none" strike="noStrike">
                <a:solidFill>
                  <a:srgbClr val="18263A"/>
                </a:solidFill>
                <a:latin typeface="Inter"/>
                <a:ea typeface="Inter"/>
                <a:cs typeface="Inter"/>
                <a:sym typeface="Inter"/>
              </a:rPr>
              <a:t>Map</a:t>
            </a:r>
            <a:endParaRPr lang="en-US" sz="1100"/>
          </a:p>
        </p:txBody>
      </p:sp>
      <p:sp>
        <p:nvSpPr>
          <p:cNvPr id="7" name="AutoShape 7"/>
          <p:cNvSpPr txBox="1"/>
          <p:nvPr/>
        </p:nvSpPr>
        <p:spPr>
          <a:xfrm>
            <a:off x="1587500" y="24130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Discover nearby senior activities on a simplified map view</a:t>
            </a:r>
            <a:endParaRPr lang="en-US" sz="1100"/>
          </a:p>
        </p:txBody>
      </p:sp>
      <p:cxnSp>
        <p:nvCxnSpPr>
          <p:cNvPr id="8" name="Connector 8"/>
          <p:cNvCxnSpPr/>
          <p:nvPr/>
        </p:nvCxnSpPr>
        <p:spPr>
          <a:xfrm rot="5367260">
            <a:off x="3651250" y="2628930"/>
            <a:ext cx="13335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9" name="AutoShape 9"/>
          <p:cNvSpPr txBox="1"/>
          <p:nvPr/>
        </p:nvSpPr>
        <p:spPr>
          <a:xfrm>
            <a:off x="4699000" y="2032000"/>
            <a:ext cx="508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5385BD"/>
                </a:solidFill>
                <a:latin typeface="Inter"/>
                <a:ea typeface="Inter"/>
                <a:cs typeface="Inter"/>
                <a:sym typeface="Inter"/>
              </a:rPr>
              <a:t>2</a:t>
            </a:r>
            <a:endParaRPr lang="en-US" sz="1100"/>
          </a:p>
        </p:txBody>
      </p:sp>
      <p:sp>
        <p:nvSpPr>
          <p:cNvPr id="10" name="AutoShape 10"/>
          <p:cNvSpPr txBox="1"/>
          <p:nvPr/>
        </p:nvSpPr>
        <p:spPr>
          <a:xfrm>
            <a:off x="5270500" y="2032000"/>
            <a:ext cx="2286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1" i="0" u="none" strike="noStrike">
                <a:solidFill>
                  <a:srgbClr val="18263A"/>
                </a:solidFill>
                <a:latin typeface="Inter"/>
                <a:ea typeface="Inter"/>
                <a:cs typeface="Inter"/>
                <a:sym typeface="Inter"/>
              </a:rPr>
              <a:t>Community Square</a:t>
            </a:r>
            <a:endParaRPr lang="en-US" sz="1100"/>
          </a:p>
        </p:txBody>
      </p:sp>
      <p:sp>
        <p:nvSpPr>
          <p:cNvPr id="11" name="AutoShape 11"/>
          <p:cNvSpPr txBox="1"/>
          <p:nvPr/>
        </p:nvSpPr>
        <p:spPr>
          <a:xfrm>
            <a:off x="5270500" y="24130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Browse activity posts and sign up in one tap</a:t>
            </a:r>
            <a:endParaRPr lang="en-US" sz="1100"/>
          </a:p>
        </p:txBody>
      </p:sp>
      <p:cxnSp>
        <p:nvCxnSpPr>
          <p:cNvPr id="12" name="Connector 12"/>
          <p:cNvCxnSpPr/>
          <p:nvPr/>
        </p:nvCxnSpPr>
        <p:spPr>
          <a:xfrm rot="5367260">
            <a:off x="7334250" y="2628930"/>
            <a:ext cx="13335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3" name="AutoShape 13"/>
          <p:cNvSpPr txBox="1"/>
          <p:nvPr/>
        </p:nvSpPr>
        <p:spPr>
          <a:xfrm>
            <a:off x="8382000" y="2032000"/>
            <a:ext cx="508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5385BD"/>
                </a:solidFill>
                <a:latin typeface="Inter"/>
                <a:ea typeface="Inter"/>
                <a:cs typeface="Inter"/>
                <a:sym typeface="Inter"/>
              </a:rPr>
              <a:t>3</a:t>
            </a:r>
            <a:endParaRPr lang="en-US" sz="1100"/>
          </a:p>
        </p:txBody>
      </p:sp>
      <p:sp>
        <p:nvSpPr>
          <p:cNvPr id="14" name="AutoShape 14"/>
          <p:cNvSpPr txBox="1"/>
          <p:nvPr/>
        </p:nvSpPr>
        <p:spPr>
          <a:xfrm>
            <a:off x="8953500" y="2032000"/>
            <a:ext cx="2286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1" i="0" u="none" strike="noStrike">
                <a:solidFill>
                  <a:srgbClr val="18263A"/>
                </a:solidFill>
                <a:latin typeface="Inter"/>
                <a:ea typeface="Inter"/>
                <a:cs typeface="Inter"/>
                <a:sym typeface="Inter"/>
              </a:rPr>
              <a:t>Chat</a:t>
            </a:r>
            <a:endParaRPr lang="en-US" sz="1100"/>
          </a:p>
        </p:txBody>
      </p:sp>
      <p:sp>
        <p:nvSpPr>
          <p:cNvPr id="15" name="AutoShape 15"/>
          <p:cNvSpPr txBox="1"/>
          <p:nvPr/>
        </p:nvSpPr>
        <p:spPr>
          <a:xfrm>
            <a:off x="8953500" y="24130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Lightweight one-to-one and group messaging</a:t>
            </a:r>
            <a:endParaRPr lang="en-US" sz="1100"/>
          </a:p>
        </p:txBody>
      </p:sp>
      <p:cxnSp>
        <p:nvCxnSpPr>
          <p:cNvPr id="16" name="Connector 16"/>
          <p:cNvCxnSpPr/>
          <p:nvPr/>
        </p:nvCxnSpPr>
        <p:spPr>
          <a:xfrm rot="-4297">
            <a:off x="1016004" y="3549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7" name="AutoShape 17"/>
          <p:cNvSpPr txBox="1"/>
          <p:nvPr/>
        </p:nvSpPr>
        <p:spPr>
          <a:xfrm>
            <a:off x="1016000" y="3937000"/>
            <a:ext cx="508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5385BD"/>
                </a:solidFill>
                <a:latin typeface="Inter"/>
                <a:ea typeface="Inter"/>
                <a:cs typeface="Inter"/>
                <a:sym typeface="Inter"/>
              </a:rPr>
              <a:t>4</a:t>
            </a:r>
            <a:endParaRPr lang="en-US" sz="1100"/>
          </a:p>
        </p:txBody>
      </p:sp>
      <p:sp>
        <p:nvSpPr>
          <p:cNvPr id="18" name="AutoShape 18"/>
          <p:cNvSpPr txBox="1"/>
          <p:nvPr/>
        </p:nvSpPr>
        <p:spPr>
          <a:xfrm>
            <a:off x="1587500" y="3937000"/>
            <a:ext cx="2286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1" i="0" u="none" strike="noStrike">
                <a:solidFill>
                  <a:srgbClr val="18263A"/>
                </a:solidFill>
                <a:latin typeface="Inter"/>
                <a:ea typeface="Inter"/>
                <a:cs typeface="Inter"/>
                <a:sym typeface="Inter"/>
              </a:rPr>
              <a:t>Friends</a:t>
            </a:r>
            <a:endParaRPr lang="en-US" sz="1100"/>
          </a:p>
        </p:txBody>
      </p:sp>
      <p:sp>
        <p:nvSpPr>
          <p:cNvPr id="19" name="AutoShape 19"/>
          <p:cNvSpPr txBox="1"/>
          <p:nvPr/>
        </p:nvSpPr>
        <p:spPr>
          <a:xfrm>
            <a:off x="1587500" y="43180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Manage peer contacts and activity circles</a:t>
            </a:r>
            <a:endParaRPr lang="en-US" sz="1100"/>
          </a:p>
        </p:txBody>
      </p:sp>
      <p:cxnSp>
        <p:nvCxnSpPr>
          <p:cNvPr id="20" name="Connector 20"/>
          <p:cNvCxnSpPr/>
          <p:nvPr/>
        </p:nvCxnSpPr>
        <p:spPr>
          <a:xfrm rot="5367260">
            <a:off x="3651250" y="4533930"/>
            <a:ext cx="13335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21" name="AutoShape 21"/>
          <p:cNvSpPr txBox="1"/>
          <p:nvPr/>
        </p:nvSpPr>
        <p:spPr>
          <a:xfrm>
            <a:off x="4699000" y="3937000"/>
            <a:ext cx="508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5385BD"/>
                </a:solidFill>
                <a:latin typeface="Inter"/>
                <a:ea typeface="Inter"/>
                <a:cs typeface="Inter"/>
                <a:sym typeface="Inter"/>
              </a:rPr>
              <a:t>5</a:t>
            </a:r>
            <a:endParaRPr lang="en-US" sz="1100"/>
          </a:p>
        </p:txBody>
      </p:sp>
      <p:sp>
        <p:nvSpPr>
          <p:cNvPr id="22" name="AutoShape 22"/>
          <p:cNvSpPr txBox="1"/>
          <p:nvPr/>
        </p:nvSpPr>
        <p:spPr>
          <a:xfrm>
            <a:off x="5270500" y="3937000"/>
            <a:ext cx="2286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1" i="0" u="none" strike="noStrike">
                <a:solidFill>
                  <a:srgbClr val="18263A"/>
                </a:solidFill>
                <a:latin typeface="Inter"/>
                <a:ea typeface="Inter"/>
                <a:cs typeface="Inter"/>
                <a:sym typeface="Inter"/>
              </a:rPr>
              <a:t>Personal Center</a:t>
            </a:r>
            <a:endParaRPr lang="en-US" sz="1100"/>
          </a:p>
        </p:txBody>
      </p:sp>
      <p:sp>
        <p:nvSpPr>
          <p:cNvPr id="23" name="AutoShape 23"/>
          <p:cNvSpPr txBox="1"/>
          <p:nvPr/>
        </p:nvSpPr>
        <p:spPr>
          <a:xfrm>
            <a:off x="5270500" y="43180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Profile, activity history, and account settings</a:t>
            </a:r>
            <a:endParaRPr lang="en-US" sz="1100"/>
          </a:p>
        </p:txBody>
      </p:sp>
      <p:cxnSp>
        <p:nvCxnSpPr>
          <p:cNvPr id="24" name="Connector 24"/>
          <p:cNvCxnSpPr/>
          <p:nvPr/>
        </p:nvCxnSpPr>
        <p:spPr>
          <a:xfrm rot="5367260">
            <a:off x="7334250" y="4533930"/>
            <a:ext cx="13335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25" name="AutoShape 25"/>
          <p:cNvSpPr txBox="1"/>
          <p:nvPr/>
        </p:nvSpPr>
        <p:spPr>
          <a:xfrm>
            <a:off x="8382000" y="3937000"/>
            <a:ext cx="508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000" b="1" i="0" u="none" strike="noStrike">
                <a:solidFill>
                  <a:srgbClr val="519D78"/>
                </a:solidFill>
                <a:latin typeface="Inter"/>
                <a:ea typeface="Inter"/>
                <a:cs typeface="Inter"/>
                <a:sym typeface="Inter"/>
              </a:rPr>
              <a:t>6</a:t>
            </a:r>
            <a:endParaRPr lang="en-US" sz="1100"/>
          </a:p>
        </p:txBody>
      </p:sp>
      <p:sp>
        <p:nvSpPr>
          <p:cNvPr id="26" name="AutoShape 26"/>
          <p:cNvSpPr txBox="1"/>
          <p:nvPr/>
        </p:nvSpPr>
        <p:spPr>
          <a:xfrm>
            <a:off x="8953500" y="3937000"/>
            <a:ext cx="2286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1" i="0" u="none" strike="noStrike">
                <a:solidFill>
                  <a:srgbClr val="519D78"/>
                </a:solidFill>
                <a:latin typeface="Inter"/>
                <a:ea typeface="Inter"/>
                <a:cs typeface="Inter"/>
                <a:sym typeface="Inter"/>
              </a:rPr>
              <a:t>SOS Emergency</a:t>
            </a:r>
            <a:endParaRPr lang="en-US" sz="1100"/>
          </a:p>
        </p:txBody>
      </p:sp>
      <p:sp>
        <p:nvSpPr>
          <p:cNvPr id="27" name="AutoShape 27"/>
          <p:cNvSpPr txBox="1"/>
          <p:nvPr/>
        </p:nvSpPr>
        <p:spPr>
          <a:xfrm>
            <a:off x="8953500" y="4318000"/>
            <a:ext cx="215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One-tap alert to trusted contacts with location</a:t>
            </a:r>
            <a:endParaRPr lang="en-US" sz="1100"/>
          </a:p>
        </p:txBody>
      </p:sp>
      <p:cxnSp>
        <p:nvCxnSpPr>
          <p:cNvPr id="28" name="Connector 28"/>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29" name="AutoShape 29"/>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Modules 1-2 cover discovery; 3-4 cover connection; 5 covers management; 6 covers safety.</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02 PROPOSED SOLUTION</a:t>
            </a:r>
            <a:endParaRPr lang="en-US" sz="1100"/>
          </a:p>
        </p:txBody>
      </p:sp>
      <p:sp>
        <p:nvSpPr>
          <p:cNvPr id="3" name="AutoShape 3"/>
          <p:cNvSpPr txBox="1"/>
          <p:nvPr/>
        </p:nvSpPr>
        <p:spPr>
          <a:xfrm>
            <a:off x="1016000" y="8382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8263A"/>
                </a:solidFill>
                <a:latin typeface="Inter"/>
                <a:ea typeface="Inter"/>
                <a:cs typeface="Inter"/>
                <a:sym typeface="Inter"/>
              </a:rPr>
              <a:t>App UI Showcase</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cxnSp>
        <p:nvCxnSpPr>
          <p:cNvPr id="11" name="Connector 11"/>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2" name="AutoShape 12"/>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Replace these dashed frames with actual Android screenshots before the defense.</a:t>
            </a:r>
            <a:endParaRPr lang="en-US" sz="1100"/>
          </a:p>
        </p:txBody>
      </p:sp>
      <p:pic>
        <p:nvPicPr>
          <p:cNvPr id="13" name="图片 12" descr="屏幕截图 2026-10-21 052548"/>
          <p:cNvPicPr>
            <a:picLocks noChangeAspect="1"/>
          </p:cNvPicPr>
          <p:nvPr/>
        </p:nvPicPr>
        <p:blipFill>
          <a:blip r:embed="rId1"/>
          <a:stretch>
            <a:fillRect/>
          </a:stretch>
        </p:blipFill>
        <p:spPr>
          <a:xfrm>
            <a:off x="2426335" y="1536700"/>
            <a:ext cx="2308860" cy="4678680"/>
          </a:xfrm>
          <a:prstGeom prst="rect">
            <a:avLst/>
          </a:prstGeom>
        </p:spPr>
      </p:pic>
      <p:pic>
        <p:nvPicPr>
          <p:cNvPr id="14" name="图片 13" descr="屏幕截图 2026-10-21 062218"/>
          <p:cNvPicPr>
            <a:picLocks noChangeAspect="1"/>
          </p:cNvPicPr>
          <p:nvPr/>
        </p:nvPicPr>
        <p:blipFill>
          <a:blip r:embed="rId2"/>
          <a:stretch>
            <a:fillRect/>
          </a:stretch>
        </p:blipFill>
        <p:spPr>
          <a:xfrm>
            <a:off x="6852285" y="1494790"/>
            <a:ext cx="2406015" cy="4715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3C7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3175000"/>
            <a:ext cx="12192000" cy="50800"/>
          </a:xfrm>
          <a:prstGeom prst="roundRect">
            <a:avLst>
              <a:gd name="adj" fmla="val 0"/>
            </a:avLst>
          </a:prstGeom>
          <a:solidFill>
            <a:srgbClr val="519D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016000" y="1778000"/>
            <a:ext cx="2540000" cy="762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5600" b="1" i="0" u="none" strike="noStrike">
                <a:solidFill>
                  <a:srgbClr val="FFFFFF">
                    <a:alpha val="34902"/>
                  </a:srgbClr>
                </a:solidFill>
                <a:latin typeface="Inter"/>
                <a:ea typeface="Inter"/>
                <a:cs typeface="Inter"/>
                <a:sym typeface="Inter"/>
              </a:rPr>
              <a:t>03</a:t>
            </a:r>
            <a:endParaRPr lang="en-US" sz="1100"/>
          </a:p>
        </p:txBody>
      </p:sp>
      <p:sp>
        <p:nvSpPr>
          <p:cNvPr id="4" name="AutoShape 4"/>
          <p:cNvSpPr txBox="1"/>
          <p:nvPr/>
        </p:nvSpPr>
        <p:spPr>
          <a:xfrm>
            <a:off x="1016000" y="3429000"/>
            <a:ext cx="1016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FFFFFF"/>
                </a:solidFill>
                <a:latin typeface="Inter"/>
                <a:ea typeface="Inter"/>
                <a:cs typeface="Inter"/>
                <a:sym typeface="Inter"/>
              </a:rPr>
              <a:t>System Architecture &amp; Technology</a:t>
            </a:r>
            <a:endParaRPr lang="en-US" sz="1100"/>
          </a:p>
        </p:txBody>
      </p:sp>
      <p:sp>
        <p:nvSpPr>
          <p:cNvPr id="5" name="AutoShape 5"/>
          <p:cNvSpPr txBox="1"/>
          <p:nvPr/>
        </p:nvSpPr>
        <p:spPr>
          <a:xfrm>
            <a:off x="1016000" y="4318000"/>
            <a:ext cx="8890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FFFFFF">
                    <a:alpha val="74902"/>
                  </a:srgbClr>
                </a:solidFill>
                <a:latin typeface="Inter"/>
                <a:ea typeface="Inter"/>
                <a:cs typeface="Inter"/>
                <a:sym typeface="Inter"/>
              </a:rPr>
              <a:t>Three-tier design, tech stack selection, and key implementation decisions</a:t>
            </a:r>
            <a:endParaRPr lang="en-US" sz="1100"/>
          </a:p>
        </p:txBody>
      </p:sp>
      <p:sp>
        <p:nvSpPr>
          <p:cNvPr id="6" name="AutoShape 6"/>
          <p:cNvSpPr/>
          <p:nvPr/>
        </p:nvSpPr>
        <p:spPr>
          <a:xfrm>
            <a:off x="8890000" y="5080000"/>
            <a:ext cx="3048000" cy="1651000"/>
          </a:xfrm>
          <a:prstGeom prst="ellipse">
            <a:avLst/>
          </a:prstGeom>
          <a:solidFill>
            <a:srgbClr val="5385BD">
              <a:alpha val="2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541000" y="381000"/>
            <a:ext cx="1270000" cy="1270000"/>
          </a:xfrm>
          <a:prstGeom prst="ellipse">
            <a:avLst/>
          </a:prstGeom>
          <a:solidFill>
            <a:srgbClr val="519D78">
              <a:alpha val="25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03 SYSTEM ARCHITECTURE</a:t>
            </a:r>
            <a:endParaRPr lang="en-US" sz="1100"/>
          </a:p>
        </p:txBody>
      </p:sp>
      <p:sp>
        <p:nvSpPr>
          <p:cNvPr id="3" name="AutoShape 3"/>
          <p:cNvSpPr txBox="1"/>
          <p:nvPr/>
        </p:nvSpPr>
        <p:spPr>
          <a:xfrm>
            <a:off x="1016000" y="8382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18263A"/>
                </a:solidFill>
                <a:latin typeface="Inter"/>
                <a:ea typeface="Inter"/>
                <a:cs typeface="Inter"/>
                <a:sym typeface="Inter"/>
              </a:rPr>
              <a:t>Three-tier architecture: UI, data, and backend layers</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5" name="AutoShape 5"/>
          <p:cNvSpPr/>
          <p:nvPr/>
        </p:nvSpPr>
        <p:spPr>
          <a:xfrm>
            <a:off x="1524000" y="1968500"/>
            <a:ext cx="9144000" cy="1016000"/>
          </a:xfrm>
          <a:prstGeom prst="roundRect">
            <a:avLst>
              <a:gd name="adj" fmla="val 0"/>
            </a:avLst>
          </a:prstGeom>
          <a:solidFill>
            <a:srgbClr val="5385BD">
              <a:alpha val="12000"/>
            </a:srgbClr>
          </a:solidFill>
          <a:ln w="12700" cap="flat" cmpd="sng">
            <a:solidFill>
              <a:srgbClr val="5385BD">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1778000" y="2095500"/>
            <a:ext cx="2540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E3C78"/>
                </a:solidFill>
                <a:latin typeface="Inter"/>
                <a:ea typeface="Inter"/>
                <a:cs typeface="Inter"/>
                <a:sym typeface="Inter"/>
              </a:rPr>
              <a:t>Presentation Layer</a:t>
            </a:r>
            <a:endParaRPr lang="en-US" sz="1100"/>
          </a:p>
        </p:txBody>
      </p:sp>
      <p:sp>
        <p:nvSpPr>
          <p:cNvPr id="7" name="AutoShape 7"/>
          <p:cNvSpPr txBox="1"/>
          <p:nvPr/>
        </p:nvSpPr>
        <p:spPr>
          <a:xfrm>
            <a:off x="1778000" y="2438400"/>
            <a:ext cx="8636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3C4858"/>
                </a:solidFill>
                <a:latin typeface="Inter"/>
                <a:ea typeface="Inter"/>
                <a:cs typeface="Inter"/>
                <a:sym typeface="Inter"/>
              </a:rPr>
              <a:t>Android Client · Kotlin · Jetpack Compose · MVVM · Navigation Compose</a:t>
            </a:r>
            <a:endParaRPr lang="en-US" sz="1100"/>
          </a:p>
        </p:txBody>
      </p:sp>
      <p:cxnSp>
        <p:nvCxnSpPr>
          <p:cNvPr id="8" name="Connector 8"/>
          <p:cNvCxnSpPr/>
          <p:nvPr/>
        </p:nvCxnSpPr>
        <p:spPr>
          <a:xfrm rot="5262563">
            <a:off x="5937250" y="3200527"/>
            <a:ext cx="317500" cy="12700"/>
          </a:xfrm>
          <a:prstGeom prst="straightConnector1">
            <a:avLst/>
          </a:prstGeom>
          <a:solidFill>
            <a:srgbClr val="DEE0E3">
              <a:alpha val="100000"/>
            </a:srgbClr>
          </a:solidFill>
          <a:ln w="12700" cap="flat" cmpd="sng">
            <a:solidFill>
              <a:srgbClr val="69788C">
                <a:alpha val="100000"/>
              </a:srgbClr>
            </a:solidFill>
            <a:prstDash val="solid"/>
            <a:round/>
            <a:headEnd type="arrow" w="med" len="med"/>
            <a:tailEnd type="arrow" w="med" len="med"/>
          </a:ln>
        </p:spPr>
      </p:cxnSp>
      <p:sp>
        <p:nvSpPr>
          <p:cNvPr id="9" name="AutoShape 9"/>
          <p:cNvSpPr txBox="1"/>
          <p:nvPr/>
        </p:nvSpPr>
        <p:spPr>
          <a:xfrm>
            <a:off x="6350000" y="3086100"/>
            <a:ext cx="2032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69788C"/>
                </a:solidFill>
                <a:latin typeface="Inter"/>
                <a:ea typeface="Inter"/>
                <a:cs typeface="Inter"/>
                <a:sym typeface="Inter"/>
              </a:rPr>
              <a:t>REST / JSON over HTTPS</a:t>
            </a:r>
            <a:endParaRPr lang="en-US" sz="1100"/>
          </a:p>
        </p:txBody>
      </p:sp>
      <p:sp>
        <p:nvSpPr>
          <p:cNvPr id="10" name="AutoShape 10"/>
          <p:cNvSpPr/>
          <p:nvPr/>
        </p:nvSpPr>
        <p:spPr>
          <a:xfrm>
            <a:off x="1524000" y="3429000"/>
            <a:ext cx="9144000" cy="1016000"/>
          </a:xfrm>
          <a:prstGeom prst="roundRect">
            <a:avLst>
              <a:gd name="adj" fmla="val 0"/>
            </a:avLst>
          </a:prstGeom>
          <a:solidFill>
            <a:srgbClr val="519D78">
              <a:alpha val="10000"/>
            </a:srgbClr>
          </a:solidFill>
          <a:ln w="12700" cap="flat" cmpd="sng">
            <a:solidFill>
              <a:srgbClr val="519D78">
                <a:alpha val="100000"/>
              </a:srgbClr>
            </a:solidFill>
            <a:prstDash val="solid"/>
            <a:round/>
          </a:ln>
        </p:spPr>
        <p:txBody>
          <a:bodyPr vert="horz" wrap="square" lIns="63500" tIns="63500" rIns="63500" bIns="63500" rtlCol="0" anchor="ctr"/>
          <a:lstStyle/>
          <a:p>
            <a:pPr algn="ctr">
              <a:defRPr/>
            </a:pPr>
          </a:p>
        </p:txBody>
      </p:sp>
      <p:sp>
        <p:nvSpPr>
          <p:cNvPr id="11" name="AutoShape 11"/>
          <p:cNvSpPr txBox="1"/>
          <p:nvPr/>
        </p:nvSpPr>
        <p:spPr>
          <a:xfrm>
            <a:off x="1778000" y="3556000"/>
            <a:ext cx="2540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519D78"/>
                </a:solidFill>
                <a:latin typeface="Inter"/>
                <a:ea typeface="Inter"/>
                <a:cs typeface="Inter"/>
                <a:sym typeface="Inter"/>
              </a:rPr>
              <a:t>Data Layer</a:t>
            </a:r>
            <a:endParaRPr lang="en-US" sz="1100"/>
          </a:p>
        </p:txBody>
      </p:sp>
      <p:sp>
        <p:nvSpPr>
          <p:cNvPr id="12" name="AutoShape 12"/>
          <p:cNvSpPr txBox="1"/>
          <p:nvPr/>
        </p:nvSpPr>
        <p:spPr>
          <a:xfrm>
            <a:off x="1778000" y="3898900"/>
            <a:ext cx="8636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3C4858"/>
                </a:solidFill>
                <a:latin typeface="Inter"/>
                <a:ea typeface="Inter"/>
                <a:cs typeface="Inter"/>
                <a:sym typeface="Inter"/>
              </a:rPr>
              <a:t>Repository Pattern · Retrofit · Room Database · DataStore · Coroutines</a:t>
            </a:r>
            <a:endParaRPr lang="en-US" sz="1100"/>
          </a:p>
        </p:txBody>
      </p:sp>
      <p:cxnSp>
        <p:nvCxnSpPr>
          <p:cNvPr id="13" name="Connector 13"/>
          <p:cNvCxnSpPr/>
          <p:nvPr/>
        </p:nvCxnSpPr>
        <p:spPr>
          <a:xfrm rot="5262563">
            <a:off x="5937250" y="4661027"/>
            <a:ext cx="317500" cy="12700"/>
          </a:xfrm>
          <a:prstGeom prst="straightConnector1">
            <a:avLst/>
          </a:prstGeom>
          <a:solidFill>
            <a:srgbClr val="DEE0E3">
              <a:alpha val="100000"/>
            </a:srgbClr>
          </a:solidFill>
          <a:ln w="12700" cap="flat" cmpd="sng">
            <a:solidFill>
              <a:srgbClr val="69788C">
                <a:alpha val="100000"/>
              </a:srgbClr>
            </a:solidFill>
            <a:prstDash val="solid"/>
            <a:round/>
            <a:headEnd type="arrow" w="med" len="med"/>
            <a:tailEnd type="arrow" w="med" len="med"/>
          </a:ln>
        </p:spPr>
      </p:cxnSp>
      <p:sp>
        <p:nvSpPr>
          <p:cNvPr id="14" name="AutoShape 14"/>
          <p:cNvSpPr txBox="1"/>
          <p:nvPr/>
        </p:nvSpPr>
        <p:spPr>
          <a:xfrm>
            <a:off x="6350000" y="4546600"/>
            <a:ext cx="2032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69788C"/>
                </a:solidFill>
                <a:latin typeface="Inter"/>
                <a:ea typeface="Inter"/>
                <a:cs typeface="Inter"/>
                <a:sym typeface="Inter"/>
              </a:rPr>
              <a:t>JDBC / SQL</a:t>
            </a:r>
            <a:endParaRPr lang="en-US" sz="1100"/>
          </a:p>
        </p:txBody>
      </p:sp>
      <p:sp>
        <p:nvSpPr>
          <p:cNvPr id="15" name="AutoShape 15"/>
          <p:cNvSpPr/>
          <p:nvPr/>
        </p:nvSpPr>
        <p:spPr>
          <a:xfrm>
            <a:off x="1524000" y="4889500"/>
            <a:ext cx="9144000" cy="1016000"/>
          </a:xfrm>
          <a:prstGeom prst="roundRect">
            <a:avLst>
              <a:gd name="adj" fmla="val 0"/>
            </a:avLst>
          </a:prstGeom>
          <a:solidFill>
            <a:srgbClr val="1E3C78">
              <a:alpha val="10000"/>
            </a:srgbClr>
          </a:solidFill>
          <a:ln w="12700" cap="flat" cmpd="sng">
            <a:solidFill>
              <a:srgbClr val="1E3C78">
                <a:alpha val="100000"/>
              </a:srgbClr>
            </a:solidFill>
            <a:prstDash val="solid"/>
            <a:round/>
          </a:ln>
        </p:spPr>
        <p:txBody>
          <a:bodyPr vert="horz" wrap="square" lIns="63500" tIns="63500" rIns="63500" bIns="63500" rtlCol="0" anchor="ctr"/>
          <a:lstStyle/>
          <a:p>
            <a:pPr algn="ctr">
              <a:defRPr/>
            </a:pPr>
          </a:p>
        </p:txBody>
      </p:sp>
      <p:sp>
        <p:nvSpPr>
          <p:cNvPr id="16" name="AutoShape 16"/>
          <p:cNvSpPr txBox="1"/>
          <p:nvPr/>
        </p:nvSpPr>
        <p:spPr>
          <a:xfrm>
            <a:off x="1778000" y="5016500"/>
            <a:ext cx="2540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E3C78"/>
                </a:solidFill>
                <a:latin typeface="Inter"/>
                <a:ea typeface="Inter"/>
                <a:cs typeface="Inter"/>
                <a:sym typeface="Inter"/>
              </a:rPr>
              <a:t>Backend &amp; Infrastructure</a:t>
            </a:r>
            <a:endParaRPr lang="en-US" sz="1100"/>
          </a:p>
        </p:txBody>
      </p:sp>
      <p:sp>
        <p:nvSpPr>
          <p:cNvPr id="17" name="AutoShape 17"/>
          <p:cNvSpPr txBox="1"/>
          <p:nvPr/>
        </p:nvSpPr>
        <p:spPr>
          <a:xfrm>
            <a:off x="1778000" y="5359400"/>
            <a:ext cx="8636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3C4858"/>
                </a:solidFill>
                <a:latin typeface="Inter"/>
                <a:ea typeface="Inter"/>
                <a:cs typeface="Inter"/>
                <a:sym typeface="Inter"/>
              </a:rPr>
              <a:t>Spring Boot · Spring Security (JWT) · MySQL · MyBatis · Redis Cache</a:t>
            </a:r>
            <a:endParaRPr lang="en-US" sz="1100"/>
          </a:p>
        </p:txBody>
      </p:sp>
      <p:cxnSp>
        <p:nvCxnSpPr>
          <p:cNvPr id="18" name="Connector 18"/>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9" name="AutoShape 19"/>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Clear separation of concerns enables independent testing and future replacement of any layer.</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03 SYSTEM ARCHITECTURE</a:t>
            </a:r>
            <a:endParaRPr lang="en-US" sz="1100"/>
          </a:p>
        </p:txBody>
      </p:sp>
      <p:sp>
        <p:nvSpPr>
          <p:cNvPr id="3" name="AutoShape 3"/>
          <p:cNvSpPr txBox="1"/>
          <p:nvPr/>
        </p:nvSpPr>
        <p:spPr>
          <a:xfrm>
            <a:off x="1016000" y="8382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1" i="0" u="none" strike="noStrike">
                <a:solidFill>
                  <a:srgbClr val="18263A"/>
                </a:solidFill>
                <a:latin typeface="Inter"/>
                <a:ea typeface="Inter"/>
                <a:cs typeface="Inter"/>
                <a:sym typeface="Inter"/>
              </a:rPr>
              <a:t>Technology choices: selected stack vs alternatives</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graphicFrame>
        <p:nvGraphicFramePr>
          <p:cNvPr id="5" name="Table 5"/>
          <p:cNvGraphicFramePr>
            <a:graphicFrameLocks noGrp="1"/>
          </p:cNvGraphicFramePr>
          <p:nvPr/>
        </p:nvGraphicFramePr>
        <p:xfrm>
          <a:off x="1016000" y="1968500"/>
          <a:ext cx="10160000" cy="3556000"/>
        </p:xfrm>
        <a:graphic>
          <a:graphicData uri="http://schemas.openxmlformats.org/drawingml/2006/table">
            <a:tbl>
              <a:tblPr>
                <a:effectLst/>
              </a:tblPr>
              <a:tblGrid>
                <a:gridCol w="2032000"/>
                <a:gridCol w="2540000"/>
                <a:gridCol w="2286000"/>
                <a:gridCol w="3302000"/>
              </a:tblGrid>
              <a:tr h="609600">
                <a:tc>
                  <a:txBody>
                    <a:bodyPr rtlCol="0"/>
                    <a:lstStyle/>
                    <a:p>
                      <a:pPr marL="0" indent="0" algn="l">
                        <a:lnSpc>
                          <a:spcPct val="100000"/>
                        </a:lnSpc>
                        <a:defRPr/>
                      </a:pPr>
                      <a:r>
                        <a:rPr lang="en-US" sz="1300" b="1" i="0" u="none" strike="noStrike">
                          <a:solidFill>
                            <a:srgbClr val="FFFFFF"/>
                          </a:solidFill>
                          <a:latin typeface="Inter"/>
                          <a:ea typeface="Inter"/>
                          <a:cs typeface="Inter"/>
                          <a:sym typeface="Inter"/>
                        </a:rPr>
                        <a:t>Concern</a:t>
                      </a:r>
                      <a:endParaRPr lang="en-US" sz="1100"/>
                    </a:p>
                  </a:txBody>
                  <a:tcPr marL="101600" marR="101600" marT="101600" marB="101600" anchor="t" anchorCtr="0">
                    <a:lnL>
                      <a:noFill/>
                    </a:lnL>
                    <a:lnR>
                      <a:noFill/>
                    </a:lnR>
                    <a:lnT>
                      <a:noFill/>
                    </a:lnT>
                    <a:lnB>
                      <a:noFill/>
                    </a:lnB>
                    <a:solidFill>
                      <a:srgbClr val="1E3C78">
                        <a:alpha val="100000"/>
                      </a:srgbClr>
                    </a:solidFill>
                  </a:tcPr>
                </a:tc>
                <a:tc>
                  <a:txBody>
                    <a:bodyPr rtlCol="0"/>
                    <a:lstStyle/>
                    <a:p>
                      <a:pPr marL="0" indent="0" algn="l">
                        <a:lnSpc>
                          <a:spcPct val="100000"/>
                        </a:lnSpc>
                        <a:defRPr/>
                      </a:pPr>
                      <a:r>
                        <a:rPr lang="en-US" sz="1300" b="1" i="0" u="none" strike="noStrike">
                          <a:solidFill>
                            <a:srgbClr val="FFFFFF"/>
                          </a:solidFill>
                          <a:latin typeface="Inter"/>
                          <a:ea typeface="Inter"/>
                          <a:cs typeface="Inter"/>
                          <a:sym typeface="Inter"/>
                        </a:rPr>
                        <a:t>Selected</a:t>
                      </a:r>
                      <a:endParaRPr lang="en-US" sz="1100"/>
                    </a:p>
                  </a:txBody>
                  <a:tcPr marL="101600" marR="101600" marT="101600" marB="101600" anchor="t" anchorCtr="0">
                    <a:lnL>
                      <a:noFill/>
                    </a:lnL>
                    <a:lnR>
                      <a:noFill/>
                    </a:lnR>
                    <a:lnT>
                      <a:noFill/>
                    </a:lnT>
                    <a:lnB>
                      <a:noFill/>
                    </a:lnB>
                    <a:solidFill>
                      <a:srgbClr val="1E3C78">
                        <a:alpha val="100000"/>
                      </a:srgbClr>
                    </a:solidFill>
                  </a:tcPr>
                </a:tc>
                <a:tc>
                  <a:txBody>
                    <a:bodyPr rtlCol="0"/>
                    <a:lstStyle/>
                    <a:p>
                      <a:pPr marL="0" indent="0" algn="l">
                        <a:lnSpc>
                          <a:spcPct val="100000"/>
                        </a:lnSpc>
                        <a:defRPr/>
                      </a:pPr>
                      <a:r>
                        <a:rPr lang="en-US" sz="1300" b="1" i="0" u="none" strike="noStrike">
                          <a:solidFill>
                            <a:srgbClr val="FFFFFF"/>
                          </a:solidFill>
                          <a:latin typeface="Inter"/>
                          <a:ea typeface="Inter"/>
                          <a:cs typeface="Inter"/>
                          <a:sym typeface="Inter"/>
                        </a:rPr>
                        <a:t>Rejected</a:t>
                      </a:r>
                      <a:endParaRPr lang="en-US" sz="1100"/>
                    </a:p>
                  </a:txBody>
                  <a:tcPr marL="101600" marR="101600" marT="101600" marB="101600" anchor="t" anchorCtr="0">
                    <a:lnL>
                      <a:noFill/>
                    </a:lnL>
                    <a:lnR>
                      <a:noFill/>
                    </a:lnR>
                    <a:lnT>
                      <a:noFill/>
                    </a:lnT>
                    <a:lnB>
                      <a:noFill/>
                    </a:lnB>
                    <a:solidFill>
                      <a:srgbClr val="1E3C78">
                        <a:alpha val="100000"/>
                      </a:srgbClr>
                    </a:solidFill>
                  </a:tcPr>
                </a:tc>
                <a:tc>
                  <a:txBody>
                    <a:bodyPr rtlCol="0"/>
                    <a:lstStyle/>
                    <a:p>
                      <a:pPr marL="0" indent="0" algn="l">
                        <a:lnSpc>
                          <a:spcPct val="100000"/>
                        </a:lnSpc>
                        <a:defRPr/>
                      </a:pPr>
                      <a:r>
                        <a:rPr lang="en-US" sz="1300" b="1" i="0" u="none" strike="noStrike">
                          <a:solidFill>
                            <a:srgbClr val="FFFFFF"/>
                          </a:solidFill>
                          <a:latin typeface="Inter"/>
                          <a:ea typeface="Inter"/>
                          <a:cs typeface="Inter"/>
                          <a:sym typeface="Inter"/>
                        </a:rPr>
                        <a:t>Rationale</a:t>
                      </a:r>
                      <a:endParaRPr lang="en-US" sz="1100"/>
                    </a:p>
                  </a:txBody>
                  <a:tcPr marL="101600" marR="101600" marT="101600" marB="101600" anchor="t" anchorCtr="0">
                    <a:lnL>
                      <a:noFill/>
                    </a:lnL>
                    <a:lnR>
                      <a:noFill/>
                    </a:lnR>
                    <a:lnT>
                      <a:noFill/>
                    </a:lnT>
                    <a:lnB>
                      <a:noFill/>
                    </a:lnB>
                    <a:solidFill>
                      <a:srgbClr val="1E3C78">
                        <a:alpha val="100000"/>
                      </a:srgbClr>
                    </a:solidFill>
                  </a:tcPr>
                </a:tc>
              </a:tr>
              <a:tr h="736600">
                <a:tc>
                  <a:txBody>
                    <a:bodyPr rtlCol="0"/>
                    <a:lstStyle/>
                    <a:p>
                      <a:pPr marL="0" indent="0" algn="l">
                        <a:lnSpc>
                          <a:spcPct val="100000"/>
                        </a:lnSpc>
                        <a:defRPr/>
                      </a:pPr>
                      <a:r>
                        <a:rPr lang="en-US" sz="1200" b="1" i="0" u="none" strike="noStrike">
                          <a:solidFill>
                            <a:srgbClr val="18263A"/>
                          </a:solidFill>
                          <a:latin typeface="Inter"/>
                          <a:ea typeface="Inter"/>
                          <a:cs typeface="Inter"/>
                          <a:sym typeface="Inter"/>
                        </a:rPr>
                        <a:t>Android UI</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519D78"/>
                          </a:solidFill>
                          <a:latin typeface="Inter"/>
                          <a:ea typeface="Inter"/>
                          <a:cs typeface="Inter"/>
                          <a:sym typeface="Inter"/>
                        </a:rPr>
                        <a:t>Jetpack Compose</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69788C"/>
                          </a:solidFill>
                          <a:latin typeface="Inter"/>
                          <a:ea typeface="Inter"/>
                          <a:cs typeface="Inter"/>
                          <a:sym typeface="Inter"/>
                        </a:rPr>
                        <a:t>XML Views</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3C4858"/>
                          </a:solidFill>
                          <a:latin typeface="Inter"/>
                          <a:ea typeface="Inter"/>
                          <a:cs typeface="Inter"/>
                          <a:sym typeface="Inter"/>
                        </a:rPr>
                        <a:t>Declarative UI, less boilerplate, easier theming for large text</a:t>
                      </a:r>
                      <a:endParaRPr lang="en-US" sz="1100"/>
                    </a:p>
                  </a:txBody>
                  <a:tcPr marL="101600" marR="101600" marT="101600" marB="101600" anchor="t" anchorCtr="0">
                    <a:lnL>
                      <a:noFill/>
                    </a:lnL>
                    <a:lnR>
                      <a:noFill/>
                    </a:lnR>
                    <a:lnT>
                      <a:noFill/>
                    </a:lnT>
                    <a:lnB>
                      <a:noFill/>
                    </a:lnB>
                    <a:noFill/>
                  </a:tcPr>
                </a:tc>
              </a:tr>
              <a:tr h="736600">
                <a:tc>
                  <a:txBody>
                    <a:bodyPr rtlCol="0"/>
                    <a:lstStyle/>
                    <a:p>
                      <a:pPr marL="0" indent="0" algn="l">
                        <a:lnSpc>
                          <a:spcPct val="100000"/>
                        </a:lnSpc>
                        <a:defRPr/>
                      </a:pPr>
                      <a:r>
                        <a:rPr lang="en-US" sz="1200" b="1" i="0" u="none" strike="noStrike">
                          <a:solidFill>
                            <a:srgbClr val="18263A"/>
                          </a:solidFill>
                          <a:latin typeface="Inter"/>
                          <a:ea typeface="Inter"/>
                          <a:cs typeface="Inter"/>
                          <a:sym typeface="Inter"/>
                        </a:rPr>
                        <a:t>Backend</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519D78"/>
                          </a:solidFill>
                          <a:latin typeface="Inter"/>
                          <a:ea typeface="Inter"/>
                          <a:cs typeface="Inter"/>
                          <a:sym typeface="Inter"/>
                        </a:rPr>
                        <a:t>Spring Boot</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69788C"/>
                          </a:solidFill>
                          <a:latin typeface="Inter"/>
                          <a:ea typeface="Inter"/>
                          <a:cs typeface="Inter"/>
                          <a:sym typeface="Inter"/>
                        </a:rPr>
                        <a:t>Node.js / Express</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3C4858"/>
                          </a:solidFill>
                          <a:latin typeface="Inter"/>
                          <a:ea typeface="Inter"/>
                          <a:cs typeface="Inter"/>
                          <a:sym typeface="Inter"/>
                        </a:rPr>
                        <a:t>Mature enterprise ecosystem, strong typing via Kotlin/Java</a:t>
                      </a:r>
                      <a:endParaRPr lang="en-US" sz="1100"/>
                    </a:p>
                  </a:txBody>
                  <a:tcPr marL="101600" marR="101600" marT="101600" marB="101600" anchor="t" anchorCtr="0">
                    <a:lnL>
                      <a:noFill/>
                    </a:lnL>
                    <a:lnR>
                      <a:noFill/>
                    </a:lnR>
                    <a:lnT>
                      <a:noFill/>
                    </a:lnT>
                    <a:lnB>
                      <a:noFill/>
                    </a:lnB>
                    <a:noFill/>
                  </a:tcPr>
                </a:tc>
              </a:tr>
              <a:tr h="736600">
                <a:tc>
                  <a:txBody>
                    <a:bodyPr rtlCol="0"/>
                    <a:lstStyle/>
                    <a:p>
                      <a:pPr marL="0" indent="0" algn="l">
                        <a:lnSpc>
                          <a:spcPct val="100000"/>
                        </a:lnSpc>
                        <a:defRPr/>
                      </a:pPr>
                      <a:r>
                        <a:rPr lang="en-US" sz="1200" b="1" i="0" u="none" strike="noStrike">
                          <a:solidFill>
                            <a:srgbClr val="18263A"/>
                          </a:solidFill>
                          <a:latin typeface="Inter"/>
                          <a:ea typeface="Inter"/>
                          <a:cs typeface="Inter"/>
                          <a:sym typeface="Inter"/>
                        </a:rPr>
                        <a:t>Database</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519D78"/>
                          </a:solidFill>
                          <a:latin typeface="Inter"/>
                          <a:ea typeface="Inter"/>
                          <a:cs typeface="Inter"/>
                          <a:sym typeface="Inter"/>
                        </a:rPr>
                        <a:t>MySQL</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69788C"/>
                          </a:solidFill>
                          <a:latin typeface="Inter"/>
                          <a:ea typeface="Inter"/>
                          <a:cs typeface="Inter"/>
                          <a:sym typeface="Inter"/>
                        </a:rPr>
                        <a:t>MongoDB</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3C4858"/>
                          </a:solidFill>
                          <a:latin typeface="Inter"/>
                          <a:ea typeface="Inter"/>
                          <a:cs typeface="Inter"/>
                          <a:sym typeface="Inter"/>
                        </a:rPr>
                        <a:t>Users, activities and orders are relational with clear constraints</a:t>
                      </a:r>
                      <a:endParaRPr lang="en-US" sz="1100"/>
                    </a:p>
                  </a:txBody>
                  <a:tcPr marL="101600" marR="101600" marT="101600" marB="101600" anchor="t" anchorCtr="0">
                    <a:lnL>
                      <a:noFill/>
                    </a:lnL>
                    <a:lnR>
                      <a:noFill/>
                    </a:lnR>
                    <a:lnT>
                      <a:noFill/>
                    </a:lnT>
                    <a:lnB>
                      <a:noFill/>
                    </a:lnB>
                    <a:noFill/>
                  </a:tcPr>
                </a:tc>
              </a:tr>
              <a:tr h="736600">
                <a:tc>
                  <a:txBody>
                    <a:bodyPr rtlCol="0"/>
                    <a:lstStyle/>
                    <a:p>
                      <a:pPr marL="0" indent="0" algn="l">
                        <a:lnSpc>
                          <a:spcPct val="100000"/>
                        </a:lnSpc>
                        <a:defRPr/>
                      </a:pPr>
                      <a:r>
                        <a:rPr lang="en-US" sz="1200" b="1" i="0" u="none" strike="noStrike">
                          <a:solidFill>
                            <a:srgbClr val="18263A"/>
                          </a:solidFill>
                          <a:latin typeface="Inter"/>
                          <a:ea typeface="Inter"/>
                          <a:cs typeface="Inter"/>
                          <a:sym typeface="Inter"/>
                        </a:rPr>
                        <a:t>Networking</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519D78"/>
                          </a:solidFill>
                          <a:latin typeface="Inter"/>
                          <a:ea typeface="Inter"/>
                          <a:cs typeface="Inter"/>
                          <a:sym typeface="Inter"/>
                        </a:rPr>
                        <a:t>Retrofit + Gson</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69788C"/>
                          </a:solidFill>
                          <a:latin typeface="Inter"/>
                          <a:ea typeface="Inter"/>
                          <a:cs typeface="Inter"/>
                          <a:sym typeface="Inter"/>
                        </a:rPr>
                        <a:t>Raw OkHttp</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3C4858"/>
                          </a:solidFill>
                          <a:latin typeface="Inter"/>
                          <a:ea typeface="Inter"/>
                          <a:cs typeface="Inter"/>
                          <a:sym typeface="Inter"/>
                        </a:rPr>
                        <a:t>Type-safe API declarations and automatic JSON serialization</a:t>
                      </a:r>
                      <a:endParaRPr lang="en-US" sz="1100"/>
                    </a:p>
                  </a:txBody>
                  <a:tcPr marL="101600" marR="101600" marT="101600" marB="101600" anchor="t" anchorCtr="0">
                    <a:lnL>
                      <a:noFill/>
                    </a:lnL>
                    <a:lnR>
                      <a:noFill/>
                    </a:lnR>
                    <a:lnT>
                      <a:noFill/>
                    </a:lnT>
                    <a:lnB>
                      <a:noFill/>
                    </a:lnB>
                    <a:noFill/>
                  </a:tcPr>
                </a:tc>
              </a:tr>
            </a:tbl>
          </a:graphicData>
        </a:graphic>
      </p:graphicFrame>
      <p:cxnSp>
        <p:nvCxnSpPr>
          <p:cNvPr id="6" name="Connector 6"/>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7" name="AutoShape 7"/>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Green = selected stack · gray = alternatives considered but not adopted.</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3C7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3175000"/>
            <a:ext cx="12192000" cy="50800"/>
          </a:xfrm>
          <a:prstGeom prst="roundRect">
            <a:avLst>
              <a:gd name="adj" fmla="val 0"/>
            </a:avLst>
          </a:prstGeom>
          <a:solidFill>
            <a:srgbClr val="519D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016000" y="1778000"/>
            <a:ext cx="2540000" cy="762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5600" b="1" i="0" u="none" strike="noStrike">
                <a:solidFill>
                  <a:srgbClr val="FFFFFF">
                    <a:alpha val="34902"/>
                  </a:srgbClr>
                </a:solidFill>
                <a:latin typeface="Inter"/>
                <a:ea typeface="Inter"/>
                <a:cs typeface="Inter"/>
                <a:sym typeface="Inter"/>
              </a:rPr>
              <a:t>04</a:t>
            </a:r>
            <a:endParaRPr lang="en-US" sz="1100"/>
          </a:p>
        </p:txBody>
      </p:sp>
      <p:sp>
        <p:nvSpPr>
          <p:cNvPr id="4" name="AutoShape 4"/>
          <p:cNvSpPr txBox="1"/>
          <p:nvPr/>
        </p:nvSpPr>
        <p:spPr>
          <a:xfrm>
            <a:off x="1016000" y="3429000"/>
            <a:ext cx="1016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600" b="1" i="0" u="none" strike="noStrike">
                <a:solidFill>
                  <a:srgbClr val="FFFFFF"/>
                </a:solidFill>
                <a:latin typeface="Inter"/>
                <a:ea typeface="Inter"/>
                <a:cs typeface="Inter"/>
                <a:sym typeface="Inter"/>
              </a:rPr>
              <a:t>Implementation &amp; Expected Outcomes</a:t>
            </a:r>
            <a:endParaRPr lang="en-US" sz="1100"/>
          </a:p>
        </p:txBody>
      </p:sp>
      <p:sp>
        <p:nvSpPr>
          <p:cNvPr id="5" name="AutoShape 5"/>
          <p:cNvSpPr txBox="1"/>
          <p:nvPr/>
        </p:nvSpPr>
        <p:spPr>
          <a:xfrm>
            <a:off x="1016000" y="4318000"/>
            <a:ext cx="8890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FFFFFF">
                    <a:alpha val="74902"/>
                  </a:srgbClr>
                </a:solidFill>
                <a:latin typeface="Inter"/>
                <a:ea typeface="Inter"/>
                <a:cs typeface="Inter"/>
                <a:sym typeface="Inter"/>
              </a:rPr>
              <a:t>Project milestones, deliverables, and core innovation points</a:t>
            </a:r>
            <a:endParaRPr lang="en-US" sz="1100"/>
          </a:p>
        </p:txBody>
      </p:sp>
      <p:sp>
        <p:nvSpPr>
          <p:cNvPr id="6" name="AutoShape 6"/>
          <p:cNvSpPr/>
          <p:nvPr/>
        </p:nvSpPr>
        <p:spPr>
          <a:xfrm>
            <a:off x="8890000" y="5080000"/>
            <a:ext cx="3048000" cy="1651000"/>
          </a:xfrm>
          <a:prstGeom prst="ellipse">
            <a:avLst/>
          </a:prstGeom>
          <a:solidFill>
            <a:srgbClr val="5385BD">
              <a:alpha val="2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541000" y="381000"/>
            <a:ext cx="1270000" cy="1270000"/>
          </a:xfrm>
          <a:prstGeom prst="ellipse">
            <a:avLst/>
          </a:prstGeom>
          <a:solidFill>
            <a:srgbClr val="519D78">
              <a:alpha val="2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0" y="5080000"/>
            <a:ext cx="3048000" cy="1651000"/>
          </a:xfrm>
          <a:prstGeom prst="ellipse">
            <a:avLst/>
          </a:prstGeom>
          <a:solidFill>
            <a:srgbClr val="5385BD">
              <a:alpha val="2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541000" y="381000"/>
            <a:ext cx="1270000" cy="1270000"/>
          </a:xfrm>
          <a:prstGeom prst="ellipse">
            <a:avLst/>
          </a:prstGeom>
          <a:solidFill>
            <a:srgbClr val="519D78">
              <a:alpha val="25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04 IMPLEMENTATION &amp; OUTCOMES</a:t>
            </a:r>
            <a:endParaRPr lang="en-US" sz="1100"/>
          </a:p>
        </p:txBody>
      </p:sp>
      <p:sp>
        <p:nvSpPr>
          <p:cNvPr id="3" name="AutoShape 3"/>
          <p:cNvSpPr txBox="1"/>
          <p:nvPr/>
        </p:nvSpPr>
        <p:spPr>
          <a:xfrm>
            <a:off x="1016000" y="8382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8263A"/>
                </a:solidFill>
                <a:latin typeface="Inter"/>
                <a:ea typeface="Inter"/>
                <a:cs typeface="Inter"/>
                <a:sym typeface="Inter"/>
              </a:rPr>
              <a:t>Five-phase development plan with three phases completed</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cxnSp>
        <p:nvCxnSpPr>
          <p:cNvPr id="5" name="Connector 5"/>
          <p:cNvCxnSpPr/>
          <p:nvPr/>
        </p:nvCxnSpPr>
        <p:spPr>
          <a:xfrm rot="-4774">
            <a:off x="1524004" y="3676650"/>
            <a:ext cx="9144000" cy="12700"/>
          </a:xfrm>
          <a:prstGeom prst="straightConnector1">
            <a:avLst/>
          </a:prstGeom>
          <a:solidFill>
            <a:srgbClr val="DEE0E3">
              <a:alpha val="100000"/>
            </a:srgbClr>
          </a:solidFill>
          <a:ln w="25400" cap="flat" cmpd="sng">
            <a:solidFill>
              <a:srgbClr val="C8D2DC">
                <a:alpha val="100000"/>
              </a:srgbClr>
            </a:solidFill>
            <a:prstDash val="solid"/>
            <a:round/>
            <a:headEnd type="none" w="lg" len="lg"/>
            <a:tailEnd type="none" w="lg" len="lg"/>
          </a:ln>
        </p:spPr>
      </p:cxnSp>
      <p:sp>
        <p:nvSpPr>
          <p:cNvPr id="6" name="AutoShape 6"/>
          <p:cNvSpPr/>
          <p:nvPr/>
        </p:nvSpPr>
        <p:spPr>
          <a:xfrm>
            <a:off x="1651000" y="3530600"/>
            <a:ext cx="304800" cy="304800"/>
          </a:xfrm>
          <a:prstGeom prst="ellipse">
            <a:avLst/>
          </a:prstGeom>
          <a:solidFill>
            <a:srgbClr val="5385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txBox="1"/>
          <p:nvPr/>
        </p:nvSpPr>
        <p:spPr>
          <a:xfrm>
            <a:off x="1143000" y="2286000"/>
            <a:ext cx="1778000" cy="3048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300" b="1" i="0" u="none" strike="noStrike">
                <a:solidFill>
                  <a:srgbClr val="18263A"/>
                </a:solidFill>
                <a:latin typeface="Inter"/>
                <a:ea typeface="Inter"/>
                <a:cs typeface="Inter"/>
                <a:sym typeface="Inter"/>
              </a:rPr>
              <a:t>Phase 1</a:t>
            </a:r>
            <a:endParaRPr lang="en-US" sz="1100"/>
          </a:p>
        </p:txBody>
      </p:sp>
      <p:sp>
        <p:nvSpPr>
          <p:cNvPr id="8" name="AutoShape 8"/>
          <p:cNvSpPr txBox="1"/>
          <p:nvPr/>
        </p:nvSpPr>
        <p:spPr>
          <a:xfrm>
            <a:off x="1143000" y="26035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3C4858"/>
                </a:solidFill>
                <a:latin typeface="Inter"/>
                <a:ea typeface="Inter"/>
                <a:cs typeface="Inter"/>
                <a:sym typeface="Inter"/>
              </a:rPr>
              <a:t>Requirement analysis &amp; user research</a:t>
            </a:r>
            <a:endParaRPr lang="en-US" sz="1100"/>
          </a:p>
        </p:txBody>
      </p:sp>
      <p:sp>
        <p:nvSpPr>
          <p:cNvPr id="9" name="AutoShape 9"/>
          <p:cNvSpPr txBox="1"/>
          <p:nvPr/>
        </p:nvSpPr>
        <p:spPr>
          <a:xfrm>
            <a:off x="1143000" y="4000500"/>
            <a:ext cx="17780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100" b="1" i="0" u="none" strike="noStrike">
                <a:solidFill>
                  <a:srgbClr val="5385BD"/>
                </a:solidFill>
                <a:latin typeface="Inter"/>
                <a:ea typeface="Inter"/>
                <a:cs typeface="Inter"/>
                <a:sym typeface="Inter"/>
              </a:rPr>
              <a:t>Completed</a:t>
            </a:r>
            <a:endParaRPr lang="en-US" sz="1100"/>
          </a:p>
        </p:txBody>
      </p:sp>
      <p:sp>
        <p:nvSpPr>
          <p:cNvPr id="10" name="AutoShape 10"/>
          <p:cNvSpPr/>
          <p:nvPr/>
        </p:nvSpPr>
        <p:spPr>
          <a:xfrm>
            <a:off x="3746500" y="3530600"/>
            <a:ext cx="304800" cy="304800"/>
          </a:xfrm>
          <a:prstGeom prst="ellipse">
            <a:avLst/>
          </a:prstGeom>
          <a:solidFill>
            <a:srgbClr val="5385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txBox="1"/>
          <p:nvPr/>
        </p:nvSpPr>
        <p:spPr>
          <a:xfrm>
            <a:off x="3238500" y="2286000"/>
            <a:ext cx="1778000" cy="3048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300" b="1" i="0" u="none" strike="noStrike">
                <a:solidFill>
                  <a:srgbClr val="18263A"/>
                </a:solidFill>
                <a:latin typeface="Inter"/>
                <a:ea typeface="Inter"/>
                <a:cs typeface="Inter"/>
                <a:sym typeface="Inter"/>
              </a:rPr>
              <a:t>Phase 2</a:t>
            </a:r>
            <a:endParaRPr lang="en-US" sz="1100"/>
          </a:p>
        </p:txBody>
      </p:sp>
      <p:sp>
        <p:nvSpPr>
          <p:cNvPr id="12" name="AutoShape 12"/>
          <p:cNvSpPr txBox="1"/>
          <p:nvPr/>
        </p:nvSpPr>
        <p:spPr>
          <a:xfrm>
            <a:off x="3238500" y="26035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3C4858"/>
                </a:solidFill>
                <a:latin typeface="Inter"/>
                <a:ea typeface="Inter"/>
                <a:cs typeface="Inter"/>
                <a:sym typeface="Inter"/>
              </a:rPr>
              <a:t>Prototype &amp; aging-friendly UI design</a:t>
            </a:r>
            <a:endParaRPr lang="en-US" sz="1100"/>
          </a:p>
        </p:txBody>
      </p:sp>
      <p:sp>
        <p:nvSpPr>
          <p:cNvPr id="13" name="AutoShape 13"/>
          <p:cNvSpPr txBox="1"/>
          <p:nvPr/>
        </p:nvSpPr>
        <p:spPr>
          <a:xfrm>
            <a:off x="3238500" y="4000500"/>
            <a:ext cx="17780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100" b="1" i="0" u="none" strike="noStrike">
                <a:solidFill>
                  <a:srgbClr val="5385BD"/>
                </a:solidFill>
                <a:latin typeface="Inter"/>
                <a:ea typeface="Inter"/>
                <a:cs typeface="Inter"/>
                <a:sym typeface="Inter"/>
              </a:rPr>
              <a:t>Completed</a:t>
            </a:r>
            <a:endParaRPr lang="en-US" sz="1100"/>
          </a:p>
        </p:txBody>
      </p:sp>
      <p:sp>
        <p:nvSpPr>
          <p:cNvPr id="14" name="AutoShape 14"/>
          <p:cNvSpPr/>
          <p:nvPr/>
        </p:nvSpPr>
        <p:spPr>
          <a:xfrm>
            <a:off x="5842000" y="3530600"/>
            <a:ext cx="304800" cy="304800"/>
          </a:xfrm>
          <a:prstGeom prst="ellipse">
            <a:avLst/>
          </a:prstGeom>
          <a:solidFill>
            <a:srgbClr val="5385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txBox="1"/>
          <p:nvPr/>
        </p:nvSpPr>
        <p:spPr>
          <a:xfrm>
            <a:off x="5334000" y="2286000"/>
            <a:ext cx="1778000" cy="3048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300" b="1" i="0" u="none" strike="noStrike">
                <a:solidFill>
                  <a:srgbClr val="18263A"/>
                </a:solidFill>
                <a:latin typeface="Inter"/>
                <a:ea typeface="Inter"/>
                <a:cs typeface="Inter"/>
                <a:sym typeface="Inter"/>
              </a:rPr>
              <a:t>Phase 3</a:t>
            </a:r>
            <a:endParaRPr lang="en-US" sz="1100"/>
          </a:p>
        </p:txBody>
      </p:sp>
      <p:sp>
        <p:nvSpPr>
          <p:cNvPr id="16" name="AutoShape 16"/>
          <p:cNvSpPr txBox="1"/>
          <p:nvPr/>
        </p:nvSpPr>
        <p:spPr>
          <a:xfrm>
            <a:off x="5334000" y="26035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3C4858"/>
                </a:solidFill>
                <a:latin typeface="Inter"/>
                <a:ea typeface="Inter"/>
                <a:cs typeface="Inter"/>
                <a:sym typeface="Inter"/>
              </a:rPr>
              <a:t>Spring Boot backend &amp; API</a:t>
            </a:r>
            <a:endParaRPr lang="en-US" sz="1100"/>
          </a:p>
        </p:txBody>
      </p:sp>
      <p:sp>
        <p:nvSpPr>
          <p:cNvPr id="17" name="AutoShape 17"/>
          <p:cNvSpPr txBox="1"/>
          <p:nvPr/>
        </p:nvSpPr>
        <p:spPr>
          <a:xfrm>
            <a:off x="5334000" y="4000500"/>
            <a:ext cx="17780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100" b="1" i="0" u="none" strike="noStrike">
                <a:solidFill>
                  <a:srgbClr val="5385BD"/>
                </a:solidFill>
                <a:latin typeface="Inter"/>
                <a:ea typeface="Inter"/>
                <a:cs typeface="Inter"/>
                <a:sym typeface="Inter"/>
              </a:rPr>
              <a:t>Completed</a:t>
            </a:r>
            <a:endParaRPr lang="en-US" sz="1100"/>
          </a:p>
        </p:txBody>
      </p:sp>
      <p:sp>
        <p:nvSpPr>
          <p:cNvPr id="18" name="AutoShape 18"/>
          <p:cNvSpPr/>
          <p:nvPr/>
        </p:nvSpPr>
        <p:spPr>
          <a:xfrm>
            <a:off x="7937500" y="3530600"/>
            <a:ext cx="304800" cy="304800"/>
          </a:xfrm>
          <a:prstGeom prst="ellipse">
            <a:avLst/>
          </a:prstGeom>
          <a:solidFill>
            <a:srgbClr val="519D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txBox="1"/>
          <p:nvPr/>
        </p:nvSpPr>
        <p:spPr>
          <a:xfrm>
            <a:off x="7429500" y="2286000"/>
            <a:ext cx="1778000" cy="3048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300" b="1" i="0" u="none" strike="noStrike">
                <a:solidFill>
                  <a:srgbClr val="18263A"/>
                </a:solidFill>
                <a:latin typeface="Inter"/>
                <a:ea typeface="Inter"/>
                <a:cs typeface="Inter"/>
                <a:sym typeface="Inter"/>
              </a:rPr>
              <a:t>Phase 4</a:t>
            </a:r>
            <a:endParaRPr lang="en-US" sz="1100"/>
          </a:p>
        </p:txBody>
      </p:sp>
      <p:sp>
        <p:nvSpPr>
          <p:cNvPr id="20" name="AutoShape 20"/>
          <p:cNvSpPr txBox="1"/>
          <p:nvPr/>
        </p:nvSpPr>
        <p:spPr>
          <a:xfrm>
            <a:off x="7429500" y="26035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3C4858"/>
                </a:solidFill>
                <a:latin typeface="Inter"/>
                <a:ea typeface="Inter"/>
                <a:cs typeface="Inter"/>
                <a:sym typeface="Inter"/>
              </a:rPr>
              <a:t>Android client joint debugging</a:t>
            </a:r>
            <a:endParaRPr lang="en-US" sz="1100"/>
          </a:p>
        </p:txBody>
      </p:sp>
      <p:sp>
        <p:nvSpPr>
          <p:cNvPr id="21" name="AutoShape 21"/>
          <p:cNvSpPr txBox="1"/>
          <p:nvPr/>
        </p:nvSpPr>
        <p:spPr>
          <a:xfrm>
            <a:off x="7429500" y="4000500"/>
            <a:ext cx="17780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100" b="1" i="0" u="none" strike="noStrike">
                <a:solidFill>
                  <a:srgbClr val="519D78"/>
                </a:solidFill>
                <a:latin typeface="Inter"/>
                <a:ea typeface="Inter"/>
                <a:cs typeface="Inter"/>
                <a:sym typeface="Inter"/>
              </a:rPr>
              <a:t>In Progress</a:t>
            </a:r>
            <a:endParaRPr lang="en-US" sz="1100"/>
          </a:p>
        </p:txBody>
      </p:sp>
      <p:sp>
        <p:nvSpPr>
          <p:cNvPr id="22" name="AutoShape 22"/>
          <p:cNvSpPr/>
          <p:nvPr/>
        </p:nvSpPr>
        <p:spPr>
          <a:xfrm>
            <a:off x="10033000" y="3530600"/>
            <a:ext cx="304800" cy="304800"/>
          </a:xfrm>
          <a:prstGeom prst="ellipse">
            <a:avLst/>
          </a:prstGeom>
          <a:solidFill>
            <a:srgbClr val="C8D2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txBox="1"/>
          <p:nvPr/>
        </p:nvSpPr>
        <p:spPr>
          <a:xfrm>
            <a:off x="9525000" y="2286000"/>
            <a:ext cx="1778000" cy="3048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300" b="1" i="0" u="none" strike="noStrike">
                <a:solidFill>
                  <a:srgbClr val="18263A"/>
                </a:solidFill>
                <a:latin typeface="Inter"/>
                <a:ea typeface="Inter"/>
                <a:cs typeface="Inter"/>
                <a:sym typeface="Inter"/>
              </a:rPr>
              <a:t>Phase 5</a:t>
            </a:r>
            <a:endParaRPr lang="en-US" sz="1100"/>
          </a:p>
        </p:txBody>
      </p:sp>
      <p:sp>
        <p:nvSpPr>
          <p:cNvPr id="24" name="AutoShape 24"/>
          <p:cNvSpPr txBox="1"/>
          <p:nvPr/>
        </p:nvSpPr>
        <p:spPr>
          <a:xfrm>
            <a:off x="9525000" y="2603500"/>
            <a:ext cx="177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3C4858"/>
                </a:solidFill>
                <a:latin typeface="Inter"/>
                <a:ea typeface="Inter"/>
                <a:cs typeface="Inter"/>
                <a:sym typeface="Inter"/>
              </a:rPr>
              <a:t>System testing &amp; thesis defense</a:t>
            </a:r>
            <a:endParaRPr lang="en-US" sz="1100"/>
          </a:p>
        </p:txBody>
      </p:sp>
      <p:sp>
        <p:nvSpPr>
          <p:cNvPr id="25" name="AutoShape 25"/>
          <p:cNvSpPr txBox="1"/>
          <p:nvPr/>
        </p:nvSpPr>
        <p:spPr>
          <a:xfrm>
            <a:off x="9525000" y="4000500"/>
            <a:ext cx="1778000" cy="254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100" b="0" i="0" u="none" strike="noStrike">
                <a:solidFill>
                  <a:srgbClr val="9BA5B2"/>
                </a:solidFill>
                <a:latin typeface="Inter"/>
                <a:ea typeface="Inter"/>
                <a:cs typeface="Inter"/>
                <a:sym typeface="Inter"/>
              </a:rPr>
              <a:t>Pending</a:t>
            </a:r>
            <a:endParaRPr lang="en-US" sz="1100"/>
          </a:p>
        </p:txBody>
      </p:sp>
      <p:cxnSp>
        <p:nvCxnSpPr>
          <p:cNvPr id="26" name="Connector 26"/>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27" name="AutoShape 27"/>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Current position: Phase 4 (client-server integration). On track for defense in January 2027.</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508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385BD"/>
                </a:solidFill>
                <a:latin typeface="Inter"/>
                <a:ea typeface="Inter"/>
                <a:cs typeface="Inter"/>
                <a:sym typeface="Inter"/>
              </a:rPr>
              <a:t>04 IMPLEMENTATION &amp; OUTCOMES</a:t>
            </a:r>
            <a:endParaRPr lang="en-US" sz="1100"/>
          </a:p>
        </p:txBody>
      </p:sp>
      <p:sp>
        <p:nvSpPr>
          <p:cNvPr id="3" name="AutoShape 3"/>
          <p:cNvSpPr txBox="1"/>
          <p:nvPr/>
        </p:nvSpPr>
        <p:spPr>
          <a:xfrm>
            <a:off x="1016000" y="8382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8263A"/>
                </a:solidFill>
                <a:latin typeface="Inter"/>
                <a:ea typeface="Inter"/>
                <a:cs typeface="Inter"/>
                <a:sym typeface="Inter"/>
              </a:rPr>
              <a:t>Three deliverables and three core innovations</a:t>
            </a:r>
            <a:endParaRPr lang="en-US" sz="1100"/>
          </a:p>
        </p:txBody>
      </p:sp>
      <p:cxnSp>
        <p:nvCxnSpPr>
          <p:cNvPr id="4" name="Connector 4"/>
          <p:cNvCxnSpPr/>
          <p:nvPr/>
        </p:nvCxnSpPr>
        <p:spPr>
          <a:xfrm rot="-4297">
            <a:off x="1016004" y="15430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5" name="AutoShape 5"/>
          <p:cNvSpPr txBox="1"/>
          <p:nvPr/>
        </p:nvSpPr>
        <p:spPr>
          <a:xfrm>
            <a:off x="1016000" y="1841500"/>
            <a:ext cx="5080000" cy="279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E3C78"/>
                </a:solidFill>
                <a:latin typeface="Inter"/>
                <a:ea typeface="Inter"/>
                <a:cs typeface="Inter"/>
                <a:sym typeface="Inter"/>
              </a:rPr>
              <a:t>Expected Deliverables</a:t>
            </a:r>
            <a:endParaRPr lang="en-US" sz="1100"/>
          </a:p>
        </p:txBody>
      </p:sp>
      <p:sp>
        <p:nvSpPr>
          <p:cNvPr id="6" name="AutoShape 6"/>
          <p:cNvSpPr txBox="1"/>
          <p:nvPr/>
        </p:nvSpPr>
        <p:spPr>
          <a:xfrm>
            <a:off x="1016000" y="2286000"/>
            <a:ext cx="25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5385BD"/>
                </a:solidFill>
                <a:latin typeface="Inter"/>
                <a:ea typeface="Inter"/>
                <a:cs typeface="Inter"/>
                <a:sym typeface="Inter"/>
              </a:rPr>
              <a:t>1</a:t>
            </a:r>
            <a:endParaRPr lang="en-US" sz="1100"/>
          </a:p>
        </p:txBody>
      </p:sp>
      <p:sp>
        <p:nvSpPr>
          <p:cNvPr id="7" name="AutoShape 7"/>
          <p:cNvSpPr txBox="1"/>
          <p:nvPr/>
        </p:nvSpPr>
        <p:spPr>
          <a:xfrm>
            <a:off x="1397000" y="2286000"/>
            <a:ext cx="4064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8263A"/>
                </a:solidFill>
                <a:latin typeface="Inter"/>
                <a:ea typeface="Inter"/>
                <a:cs typeface="Inter"/>
                <a:sym typeface="Inter"/>
              </a:rPr>
              <a:t>Android Client Application</a:t>
            </a:r>
            <a:endParaRPr lang="en-US" sz="1100"/>
          </a:p>
        </p:txBody>
      </p:sp>
      <p:sp>
        <p:nvSpPr>
          <p:cNvPr id="8" name="AutoShape 8"/>
          <p:cNvSpPr txBox="1"/>
          <p:nvPr/>
        </p:nvSpPr>
        <p:spPr>
          <a:xfrm>
            <a:off x="1397000" y="26416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Kotlin + Jetpack Compose, six modules, aging-first UI</a:t>
            </a:r>
            <a:endParaRPr lang="en-US" sz="1100"/>
          </a:p>
        </p:txBody>
      </p:sp>
      <p:sp>
        <p:nvSpPr>
          <p:cNvPr id="9" name="AutoShape 9"/>
          <p:cNvSpPr txBox="1"/>
          <p:nvPr/>
        </p:nvSpPr>
        <p:spPr>
          <a:xfrm>
            <a:off x="1016000" y="3238500"/>
            <a:ext cx="25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5385BD"/>
                </a:solidFill>
                <a:latin typeface="Inter"/>
                <a:ea typeface="Inter"/>
                <a:cs typeface="Inter"/>
                <a:sym typeface="Inter"/>
              </a:rPr>
              <a:t>2</a:t>
            </a:r>
            <a:endParaRPr lang="en-US" sz="1100"/>
          </a:p>
        </p:txBody>
      </p:sp>
      <p:sp>
        <p:nvSpPr>
          <p:cNvPr id="10" name="AutoShape 10"/>
          <p:cNvSpPr txBox="1"/>
          <p:nvPr/>
        </p:nvSpPr>
        <p:spPr>
          <a:xfrm>
            <a:off x="1397000" y="3238500"/>
            <a:ext cx="4064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8263A"/>
                </a:solidFill>
                <a:latin typeface="Inter"/>
                <a:ea typeface="Inter"/>
                <a:cs typeface="Inter"/>
                <a:sym typeface="Inter"/>
              </a:rPr>
              <a:t>Spring Boot Backend Service</a:t>
            </a:r>
            <a:endParaRPr lang="en-US" sz="1100"/>
          </a:p>
        </p:txBody>
      </p:sp>
      <p:sp>
        <p:nvSpPr>
          <p:cNvPr id="11" name="AutoShape 11"/>
          <p:cNvSpPr txBox="1"/>
          <p:nvPr/>
        </p:nvSpPr>
        <p:spPr>
          <a:xfrm>
            <a:off x="1397000" y="35941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RESTful API, JWT auth, MySQL persistence, Redis cache</a:t>
            </a:r>
            <a:endParaRPr lang="en-US" sz="1100"/>
          </a:p>
        </p:txBody>
      </p:sp>
      <p:sp>
        <p:nvSpPr>
          <p:cNvPr id="12" name="AutoShape 12"/>
          <p:cNvSpPr txBox="1"/>
          <p:nvPr/>
        </p:nvSpPr>
        <p:spPr>
          <a:xfrm>
            <a:off x="1016000" y="4191000"/>
            <a:ext cx="25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5385BD"/>
                </a:solidFill>
                <a:latin typeface="Inter"/>
                <a:ea typeface="Inter"/>
                <a:cs typeface="Inter"/>
                <a:sym typeface="Inter"/>
              </a:rPr>
              <a:t>3</a:t>
            </a:r>
            <a:endParaRPr lang="en-US" sz="1100"/>
          </a:p>
        </p:txBody>
      </p:sp>
      <p:sp>
        <p:nvSpPr>
          <p:cNvPr id="13" name="AutoShape 13"/>
          <p:cNvSpPr txBox="1"/>
          <p:nvPr/>
        </p:nvSpPr>
        <p:spPr>
          <a:xfrm>
            <a:off x="1397000" y="4191000"/>
            <a:ext cx="4064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8263A"/>
                </a:solidFill>
                <a:latin typeface="Inter"/>
                <a:ea typeface="Inter"/>
                <a:cs typeface="Inter"/>
                <a:sym typeface="Inter"/>
              </a:rPr>
              <a:t>Documentation &amp; Test Report</a:t>
            </a:r>
            <a:endParaRPr lang="en-US" sz="1100"/>
          </a:p>
        </p:txBody>
      </p:sp>
      <p:sp>
        <p:nvSpPr>
          <p:cNvPr id="14" name="AutoShape 14"/>
          <p:cNvSpPr txBox="1"/>
          <p:nvPr/>
        </p:nvSpPr>
        <p:spPr>
          <a:xfrm>
            <a:off x="1397000" y="45466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Design spec, API docs, and system test results</a:t>
            </a:r>
            <a:endParaRPr lang="en-US" sz="1100"/>
          </a:p>
        </p:txBody>
      </p:sp>
      <p:cxnSp>
        <p:nvCxnSpPr>
          <p:cNvPr id="15" name="Connector 15"/>
          <p:cNvCxnSpPr/>
          <p:nvPr/>
        </p:nvCxnSpPr>
        <p:spPr>
          <a:xfrm rot="5387499">
            <a:off x="4349750" y="3581412"/>
            <a:ext cx="34925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16" name="AutoShape 16"/>
          <p:cNvSpPr txBox="1"/>
          <p:nvPr/>
        </p:nvSpPr>
        <p:spPr>
          <a:xfrm>
            <a:off x="6604000" y="1841500"/>
            <a:ext cx="4572000" cy="279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519D78"/>
                </a:solidFill>
                <a:latin typeface="Inter"/>
                <a:ea typeface="Inter"/>
                <a:cs typeface="Inter"/>
                <a:sym typeface="Inter"/>
              </a:rPr>
              <a:t>Core Innovations</a:t>
            </a:r>
            <a:endParaRPr lang="en-US" sz="1100"/>
          </a:p>
        </p:txBody>
      </p:sp>
      <p:sp>
        <p:nvSpPr>
          <p:cNvPr id="17" name="AutoShape 17"/>
          <p:cNvSpPr txBox="1"/>
          <p:nvPr/>
        </p:nvSpPr>
        <p:spPr>
          <a:xfrm>
            <a:off x="6604000" y="2286000"/>
            <a:ext cx="25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519D78"/>
                </a:solidFill>
                <a:latin typeface="Inter"/>
                <a:ea typeface="Inter"/>
                <a:cs typeface="Inter"/>
                <a:sym typeface="Inter"/>
              </a:rPr>
              <a:t>1</a:t>
            </a:r>
            <a:endParaRPr lang="en-US" sz="1100"/>
          </a:p>
        </p:txBody>
      </p:sp>
      <p:sp>
        <p:nvSpPr>
          <p:cNvPr id="18" name="AutoShape 18"/>
          <p:cNvSpPr txBox="1"/>
          <p:nvPr/>
        </p:nvSpPr>
        <p:spPr>
          <a:xfrm>
            <a:off x="6985000" y="2286000"/>
            <a:ext cx="4191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8263A"/>
                </a:solidFill>
                <a:latin typeface="Inter"/>
                <a:ea typeface="Inter"/>
                <a:cs typeface="Inter"/>
                <a:sym typeface="Inter"/>
              </a:rPr>
              <a:t>Aging-first UI by design</a:t>
            </a:r>
            <a:endParaRPr lang="en-US" sz="1100"/>
          </a:p>
        </p:txBody>
      </p:sp>
      <p:sp>
        <p:nvSpPr>
          <p:cNvPr id="19" name="AutoShape 19"/>
          <p:cNvSpPr txBox="1"/>
          <p:nvPr/>
        </p:nvSpPr>
        <p:spPr>
          <a:xfrm>
            <a:off x="6985000" y="2641600"/>
            <a:ext cx="4191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Large type, high contrast, and 48dp touch targets from the start</a:t>
            </a:r>
            <a:endParaRPr lang="en-US" sz="1100"/>
          </a:p>
        </p:txBody>
      </p:sp>
      <p:sp>
        <p:nvSpPr>
          <p:cNvPr id="20" name="AutoShape 20"/>
          <p:cNvSpPr txBox="1"/>
          <p:nvPr/>
        </p:nvSpPr>
        <p:spPr>
          <a:xfrm>
            <a:off x="6604000" y="3238500"/>
            <a:ext cx="25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519D78"/>
                </a:solidFill>
                <a:latin typeface="Inter"/>
                <a:ea typeface="Inter"/>
                <a:cs typeface="Inter"/>
                <a:sym typeface="Inter"/>
              </a:rPr>
              <a:t>2</a:t>
            </a:r>
            <a:endParaRPr lang="en-US" sz="1100"/>
          </a:p>
        </p:txBody>
      </p:sp>
      <p:sp>
        <p:nvSpPr>
          <p:cNvPr id="21" name="AutoShape 21"/>
          <p:cNvSpPr txBox="1"/>
          <p:nvPr/>
        </p:nvSpPr>
        <p:spPr>
          <a:xfrm>
            <a:off x="6985000" y="3238500"/>
            <a:ext cx="4191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8263A"/>
                </a:solidFill>
                <a:latin typeface="Inter"/>
                <a:ea typeface="Inter"/>
                <a:cs typeface="Inter"/>
                <a:sym typeface="Inter"/>
              </a:rPr>
              <a:t>SOS safety embedded in activities</a:t>
            </a:r>
            <a:endParaRPr lang="en-US" sz="1100"/>
          </a:p>
        </p:txBody>
      </p:sp>
      <p:sp>
        <p:nvSpPr>
          <p:cNvPr id="22" name="AutoShape 22"/>
          <p:cNvSpPr txBox="1"/>
          <p:nvPr/>
        </p:nvSpPr>
        <p:spPr>
          <a:xfrm>
            <a:off x="6985000" y="3594100"/>
            <a:ext cx="4191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One-tap alert with location during offline meetups</a:t>
            </a:r>
            <a:endParaRPr lang="en-US" sz="1100"/>
          </a:p>
        </p:txBody>
      </p:sp>
      <p:sp>
        <p:nvSpPr>
          <p:cNvPr id="23" name="AutoShape 23"/>
          <p:cNvSpPr txBox="1"/>
          <p:nvPr/>
        </p:nvSpPr>
        <p:spPr>
          <a:xfrm>
            <a:off x="6604000" y="4191000"/>
            <a:ext cx="25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519D78"/>
                </a:solidFill>
                <a:latin typeface="Inter"/>
                <a:ea typeface="Inter"/>
                <a:cs typeface="Inter"/>
                <a:sym typeface="Inter"/>
              </a:rPr>
              <a:t>3</a:t>
            </a:r>
            <a:endParaRPr lang="en-US" sz="1100"/>
          </a:p>
        </p:txBody>
      </p:sp>
      <p:sp>
        <p:nvSpPr>
          <p:cNvPr id="24" name="AutoShape 24"/>
          <p:cNvSpPr txBox="1"/>
          <p:nvPr/>
        </p:nvSpPr>
        <p:spPr>
          <a:xfrm>
            <a:off x="6985000" y="4191000"/>
            <a:ext cx="4191000" cy="330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18263A"/>
                </a:solidFill>
                <a:latin typeface="Inter"/>
                <a:ea typeface="Inter"/>
                <a:cs typeface="Inter"/>
                <a:sym typeface="Inter"/>
              </a:rPr>
              <a:t>Three-step interaction pattern</a:t>
            </a:r>
            <a:endParaRPr lang="en-US" sz="1100"/>
          </a:p>
        </p:txBody>
      </p:sp>
      <p:sp>
        <p:nvSpPr>
          <p:cNvPr id="25" name="AutoShape 25"/>
          <p:cNvSpPr txBox="1"/>
          <p:nvPr/>
        </p:nvSpPr>
        <p:spPr>
          <a:xfrm>
            <a:off x="6985000" y="4546600"/>
            <a:ext cx="4191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9788C"/>
                </a:solidFill>
                <a:latin typeface="Inter"/>
                <a:ea typeface="Inter"/>
                <a:cs typeface="Inter"/>
                <a:sym typeface="Inter"/>
              </a:rPr>
              <a:t>Every core task takes at most three taps, reducing learning curve</a:t>
            </a:r>
            <a:endParaRPr lang="en-US" sz="1100"/>
          </a:p>
        </p:txBody>
      </p:sp>
      <p:cxnSp>
        <p:nvCxnSpPr>
          <p:cNvPr id="26" name="Connector 26"/>
          <p:cNvCxnSpPr/>
          <p:nvPr/>
        </p:nvCxnSpPr>
        <p:spPr>
          <a:xfrm rot="-4297">
            <a:off x="1016004" y="6216650"/>
            <a:ext cx="10160000" cy="12700"/>
          </a:xfrm>
          <a:prstGeom prst="straightConnector1">
            <a:avLst/>
          </a:prstGeom>
          <a:solidFill>
            <a:srgbClr val="DEE0E3">
              <a:alpha val="100000"/>
            </a:srgbClr>
          </a:solidFill>
          <a:ln w="12700" cap="flat" cmpd="sng">
            <a:solidFill>
              <a:srgbClr val="DCE2E8">
                <a:alpha val="100000"/>
              </a:srgbClr>
            </a:solidFill>
            <a:prstDash val="solid"/>
            <a:round/>
            <a:headEnd type="none" w="med" len="med"/>
            <a:tailEnd type="none" w="med" len="med"/>
          </a:ln>
        </p:spPr>
      </p:cxnSp>
      <p:sp>
        <p:nvSpPr>
          <p:cNvPr id="27" name="AutoShape 27"/>
          <p:cNvSpPr txBox="1"/>
          <p:nvPr/>
        </p:nvSpPr>
        <p:spPr>
          <a:xfrm>
            <a:off x="1016000" y="6350000"/>
            <a:ext cx="1016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9BA5B2"/>
                </a:solidFill>
                <a:latin typeface="Inter"/>
                <a:ea typeface="Inter"/>
                <a:cs typeface="Inter"/>
                <a:sym typeface="Inter"/>
              </a:rPr>
              <a:t>Eligo · Graduation Project Proposal · 2026</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3C7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3175000"/>
            <a:ext cx="12192000" cy="50800"/>
          </a:xfrm>
          <a:prstGeom prst="roundRect">
            <a:avLst>
              <a:gd name="adj" fmla="val 0"/>
            </a:avLst>
          </a:prstGeom>
          <a:solidFill>
            <a:srgbClr val="519D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016000" y="2286000"/>
            <a:ext cx="10160000" cy="889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5200" b="1" i="0" u="none" strike="noStrike">
                <a:solidFill>
                  <a:srgbClr val="FFFFFF"/>
                </a:solidFill>
                <a:latin typeface="Inter"/>
                <a:ea typeface="Inter"/>
                <a:cs typeface="Inter"/>
                <a:sym typeface="Inter"/>
              </a:rPr>
              <a:t>Thank You</a:t>
            </a:r>
            <a:endParaRPr lang="en-US" sz="1100"/>
          </a:p>
        </p:txBody>
      </p:sp>
      <p:sp>
        <p:nvSpPr>
          <p:cNvPr id="4" name="AutoShape 4"/>
          <p:cNvSpPr txBox="1"/>
          <p:nvPr/>
        </p:nvSpPr>
        <p:spPr>
          <a:xfrm>
            <a:off x="1016000" y="3556000"/>
            <a:ext cx="10160000" cy="4572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2200" b="1" i="0" u="none" strike="noStrike">
                <a:solidFill>
                  <a:srgbClr val="FFFFFF">
                    <a:alpha val="80000"/>
                  </a:srgbClr>
                </a:solidFill>
                <a:latin typeface="Inter"/>
                <a:ea typeface="Inter"/>
                <a:cs typeface="Inter"/>
                <a:sym typeface="Inter"/>
              </a:rPr>
              <a:t>Questions &amp; Discussion</a:t>
            </a:r>
            <a:endParaRPr lang="en-US" sz="1100"/>
          </a:p>
        </p:txBody>
      </p:sp>
      <p:sp>
        <p:nvSpPr>
          <p:cNvPr id="5" name="AutoShape 5"/>
          <p:cNvSpPr txBox="1"/>
          <p:nvPr/>
        </p:nvSpPr>
        <p:spPr>
          <a:xfrm>
            <a:off x="1016000" y="4699000"/>
            <a:ext cx="10160000" cy="355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400" b="0" i="0" u="none" strike="noStrike">
                <a:solidFill>
                  <a:srgbClr val="FFFFFF">
                    <a:alpha val="60000"/>
                  </a:srgbClr>
                </a:solidFill>
                <a:latin typeface="Inter"/>
                <a:ea typeface="Inter"/>
                <a:cs typeface="Inter"/>
                <a:sym typeface="Inter"/>
              </a:rPr>
              <a:t>Eligo · An Aging-Friendly Activity &amp; Social Platform</a:t>
            </a:r>
            <a:endParaRPr lang="en-US" sz="1100"/>
          </a:p>
        </p:txBody>
      </p:sp>
      <p:sp>
        <p:nvSpPr>
          <p:cNvPr id="6" name="AutoShape 6"/>
          <p:cNvSpPr txBox="1"/>
          <p:nvPr/>
        </p:nvSpPr>
        <p:spPr>
          <a:xfrm>
            <a:off x="1016000" y="5080000"/>
            <a:ext cx="10160000" cy="3048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200" b="0" i="0" u="none" strike="noStrike">
                <a:solidFill>
                  <a:srgbClr val="FFFFFF">
                    <a:alpha val="45098"/>
                  </a:srgbClr>
                </a:solidFill>
                <a:latin typeface="Inter"/>
                <a:ea typeface="Inter"/>
                <a:cs typeface="Inter"/>
                <a:sym typeface="Inter"/>
              </a:rPr>
              <a:t>Department of Computer Science · October 2026</a:t>
            </a:r>
            <a:endParaRPr lang="en-US" sz="1100"/>
          </a:p>
        </p:txBody>
      </p:sp>
      <p:sp>
        <p:nvSpPr>
          <p:cNvPr id="7" name="AutoShape 7"/>
          <p:cNvSpPr/>
          <p:nvPr/>
        </p:nvSpPr>
        <p:spPr>
          <a:xfrm>
            <a:off x="8890000" y="5080000"/>
            <a:ext cx="3048000" cy="1651000"/>
          </a:xfrm>
          <a:prstGeom prst="ellipse">
            <a:avLst/>
          </a:prstGeom>
          <a:solidFill>
            <a:srgbClr val="5385BD">
              <a:alpha val="2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541000" y="381000"/>
            <a:ext cx="1270000" cy="1270000"/>
          </a:xfrm>
          <a:prstGeom prst="ellipse">
            <a:avLst/>
          </a:prstGeom>
          <a:solidFill>
            <a:srgbClr val="519D78">
              <a:alpha val="25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6334</Words>
  <Application>WPS 演示</Application>
  <PresentationFormat/>
  <Paragraphs>355</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16</vt:i4>
      </vt:variant>
    </vt:vector>
  </HeadingPairs>
  <TitlesOfParts>
    <vt:vector size="26" baseType="lpstr">
      <vt:lpstr>Arial</vt:lpstr>
      <vt:lpstr>宋体</vt:lpstr>
      <vt:lpstr>Wingdings</vt:lpstr>
      <vt:lpstr>Arial</vt:lpstr>
      <vt:lpstr>Inter</vt:lpstr>
      <vt:lpstr>Segoe Print</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曾卓彦</cp:lastModifiedBy>
  <cp:revision>1</cp:revision>
  <dcterms:created xsi:type="dcterms:W3CDTF">2026-10-21T07:34:40Z</dcterms:created>
  <dcterms:modified xsi:type="dcterms:W3CDTF">2026-10-21T07:34:40Z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{"Label":"1","ContentProducer":"001191110102MACQD9K64010000","ProduceID":"7698987236497198324","ReservedCode1":"","ContentPropagator":"","PropagateID":"","ReservedCode2":""}</vt:lpwstr>
  </property>
  <property fmtid="{D5CDD505-2E9C-101B-9397-08002B2CF9AE}" pid="3" name="KSOProductBuildVer">
    <vt:lpwstr>2052-12.1.0.29161</vt:lpwstr>
  </property>
  <property fmtid="{D5CDD505-2E9C-101B-9397-08002B2CF9AE}" pid="4" name="ICV">
    <vt:lpwstr>06C1B627D3104D7BA062961991C4FC6F_12</vt:lpwstr>
  </property>
</Properties>
</file>